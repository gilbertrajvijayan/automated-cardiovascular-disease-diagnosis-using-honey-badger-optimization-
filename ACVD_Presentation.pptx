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4" r:id="rId8"/>
    <p:sldId id="262" r:id="rId9"/>
    <p:sldId id="263" r:id="rId10"/>
    <p:sldId id="265" r:id="rId11"/>
    <p:sldId id="275" r:id="rId12"/>
    <p:sldId id="276" r:id="rId13"/>
    <p:sldId id="268" r:id="rId14"/>
    <p:sldId id="272" r:id="rId15"/>
    <p:sldId id="287" r:id="rId16"/>
    <p:sldId id="273" r:id="rId17"/>
    <p:sldId id="282" r:id="rId18"/>
    <p:sldId id="283" r:id="rId19"/>
    <p:sldId id="288" r:id="rId20"/>
    <p:sldId id="277" r:id="rId21"/>
    <p:sldId id="280" r:id="rId22"/>
    <p:sldId id="281" r:id="rId23"/>
    <p:sldId id="284" r:id="rId24"/>
    <p:sldId id="285" r:id="rId25"/>
    <p:sldId id="286" r:id="rId26"/>
    <p:sldId id="278" r:id="rId27"/>
    <p:sldId id="279"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379"/>
    <p:restoredTop sz="96047"/>
  </p:normalViewPr>
  <p:slideViewPr>
    <p:cSldViewPr snapToGrid="0">
      <p:cViewPr varScale="1">
        <p:scale>
          <a:sx n="118" d="100"/>
          <a:sy n="118" d="100"/>
        </p:scale>
        <p:origin x="592"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GB"/>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4/9/26</a:t>
            </a:fld>
            <a:endParaRPr lang="en-US" dirty="0"/>
          </a:p>
        </p:txBody>
      </p:sp>
      <p:sp>
        <p:nvSpPr>
          <p:cNvPr id="5" name="Footer Placeholder 4"/>
          <p:cNvSpPr>
            <a:spLocks noGrp="1"/>
          </p:cNvSpPr>
          <p:nvPr>
            <p:ph type="ftr" sz="quarter" idx="11"/>
          </p:nvPr>
        </p:nvSpPr>
        <p:spPr>
          <a:xfrm>
            <a:off x="2416500" y="329307"/>
            <a:ext cx="4973915" cy="309201"/>
          </a:xfrm>
        </p:spPr>
        <p:txBody>
          <a:bodyPr/>
          <a:lstStyle/>
          <a:p>
            <a:endParaRPr lang="en-US" dirty="0"/>
          </a:p>
        </p:txBody>
      </p:sp>
      <p:sp>
        <p:nvSpPr>
          <p:cNvPr id="6" name="Slide Number Placeholder 5"/>
          <p:cNvSpPr>
            <a:spLocks noGrp="1"/>
          </p:cNvSpPr>
          <p:nvPr>
            <p:ph type="sldNum" sz="quarter" idx="12"/>
          </p:nvPr>
        </p:nvSpPr>
        <p:spPr>
          <a:xfrm>
            <a:off x="1437664" y="798973"/>
            <a:ext cx="811019" cy="503578"/>
          </a:xfrm>
        </p:spPr>
        <p:txBody>
          <a:bodyPr/>
          <a:lstStyle/>
          <a:p>
            <a:fld id="{6D22F896-40B5-4ADD-8801-0D06FADFA095}" type="slidenum">
              <a:rPr lang="en-US" dirty="0"/>
              <a:t>‹#›</a:t>
            </a:fld>
            <a:endParaRPr lang="en-US" dirty="0"/>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4/9/26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GB"/>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4/9/26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GB"/>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4/9/26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GB"/>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4/9/26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4/9/26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4/9/26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GB"/>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4/9/26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48A87A34-81AB-432B-8DAE-1953F412C126}" type="datetimeFigureOut">
              <a:rPr lang="en-US" dirty="0"/>
              <a:pPr/>
              <a:t>4/9/26</a:t>
            </a:fld>
            <a:endParaRPr lang="en-US" dirty="0"/>
          </a:p>
        </p:txBody>
      </p:sp>
      <p:sp>
        <p:nvSpPr>
          <p:cNvPr id="6" name="Footer Placeholder 5"/>
          <p:cNvSpPr>
            <a:spLocks noGrp="1"/>
          </p:cNvSpPr>
          <p:nvPr>
            <p:ph type="ftr" sz="quarter" idx="11"/>
          </p:nvPr>
        </p:nvSpPr>
        <p:spPr>
          <a:xfrm>
            <a:off x="1447382" y="318640"/>
            <a:ext cx="5541004" cy="320931"/>
          </a:xfrm>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4/9/26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GB"/>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4/9/26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GB"/>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48A87A34-81AB-432B-8DAE-1953F412C126}" type="datetimeFigureOut">
              <a:rPr lang="en-US" dirty="0"/>
              <a:pPr/>
              <a:t>4/9/26</a:t>
            </a:fld>
            <a:endParaRPr lang="en-US" dirty="0"/>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6D22F896-40B5-4ADD-8801-0D06FADFA095}" type="slidenum">
              <a:rPr lang="en-US" dirty="0"/>
              <a:pPr/>
              <a:t>‹#›</a:t>
            </a:fld>
            <a:endParaRPr lang="en-US"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BCE1B4-F856-47CF-2BBC-4044935902E1}"/>
              </a:ext>
            </a:extLst>
          </p:cNvPr>
          <p:cNvSpPr>
            <a:spLocks noGrp="1"/>
          </p:cNvSpPr>
          <p:nvPr>
            <p:ph type="title"/>
          </p:nvPr>
        </p:nvSpPr>
        <p:spPr/>
        <p:txBody>
          <a:bodyPr>
            <a:noAutofit/>
          </a:bodyPr>
          <a:lstStyle/>
          <a:p>
            <a:pPr algn="ctr"/>
            <a:r>
              <a:rPr lang="en-US" sz="3000" b="1" dirty="0">
                <a:latin typeface="Garamond" pitchFamily="18" charset="0"/>
              </a:rPr>
              <a:t>Automated Cardiovascular Disease Diagnosis Using Honey Badger Optimization With Modified Deep Learning Model</a:t>
            </a:r>
            <a:endParaRPr lang="en-US" sz="3000" dirty="0"/>
          </a:p>
        </p:txBody>
      </p:sp>
      <p:pic>
        <p:nvPicPr>
          <p:cNvPr id="7" name="Picture Placeholder 6" descr="A close-up of a human body&#10;&#10;Description automatically generated">
            <a:extLst>
              <a:ext uri="{FF2B5EF4-FFF2-40B4-BE49-F238E27FC236}">
                <a16:creationId xmlns:a16="http://schemas.microsoft.com/office/drawing/2014/main" id="{078D8D73-B4F6-3490-830B-B944F698BD70}"/>
              </a:ext>
            </a:extLst>
          </p:cNvPr>
          <p:cNvPicPr>
            <a:picLocks noGrp="1" noChangeAspect="1"/>
          </p:cNvPicPr>
          <p:nvPr>
            <p:ph type="pic" idx="1"/>
          </p:nvPr>
        </p:nvPicPr>
        <p:blipFill>
          <a:blip r:embed="rId2"/>
          <a:srcRect l="26768" r="26768"/>
          <a:stretch>
            <a:fillRect/>
          </a:stretch>
        </p:blipFill>
        <p:spPr/>
      </p:pic>
      <p:sp>
        <p:nvSpPr>
          <p:cNvPr id="3" name="Subtitle 2">
            <a:extLst>
              <a:ext uri="{FF2B5EF4-FFF2-40B4-BE49-F238E27FC236}">
                <a16:creationId xmlns:a16="http://schemas.microsoft.com/office/drawing/2014/main" id="{6A20E00A-CCC7-EF76-DDB8-654C7BA45FF2}"/>
              </a:ext>
            </a:extLst>
          </p:cNvPr>
          <p:cNvSpPr>
            <a:spLocks noGrp="1"/>
          </p:cNvSpPr>
          <p:nvPr>
            <p:ph type="body" sz="half" idx="2"/>
          </p:nvPr>
        </p:nvSpPr>
        <p:spPr>
          <a:xfrm>
            <a:off x="1451206" y="3533268"/>
            <a:ext cx="5524404" cy="2003742"/>
          </a:xfrm>
        </p:spPr>
        <p:txBody>
          <a:bodyPr>
            <a:normAutofit fontScale="92500" lnSpcReduction="20000"/>
          </a:bodyPr>
          <a:lstStyle/>
          <a:p>
            <a:r>
              <a:rPr lang="en-US" dirty="0"/>
              <a:t>UNDER THE GUIDANCE OF</a:t>
            </a:r>
          </a:p>
          <a:p>
            <a:r>
              <a:rPr lang="en-US" dirty="0"/>
              <a:t>		Department of Mathematics,</a:t>
            </a:r>
          </a:p>
          <a:p>
            <a:r>
              <a:rPr lang="en-US" dirty="0"/>
              <a:t>		VIT Vellore.</a:t>
            </a:r>
          </a:p>
          <a:p>
            <a:r>
              <a:rPr lang="en-US" dirty="0"/>
              <a:t>PRESENTED BY</a:t>
            </a:r>
          </a:p>
          <a:p>
            <a:r>
              <a:rPr lang="en-US" dirty="0"/>
              <a:t>	GILBERT RAJ V</a:t>
            </a:r>
          </a:p>
        </p:txBody>
      </p:sp>
    </p:spTree>
    <p:extLst>
      <p:ext uri="{BB962C8B-B14F-4D97-AF65-F5344CB8AC3E}">
        <p14:creationId xmlns:p14="http://schemas.microsoft.com/office/powerpoint/2010/main" val="3970454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6F8969-4AE8-8CE4-3E96-082E72C68726}"/>
              </a:ext>
            </a:extLst>
          </p:cNvPr>
          <p:cNvSpPr>
            <a:spLocks noGrp="1"/>
          </p:cNvSpPr>
          <p:nvPr>
            <p:ph type="title"/>
          </p:nvPr>
        </p:nvSpPr>
        <p:spPr/>
        <p:txBody>
          <a:bodyPr/>
          <a:lstStyle/>
          <a:p>
            <a:r>
              <a:rPr lang="en-US" dirty="0"/>
              <a:t>abstract</a:t>
            </a:r>
          </a:p>
        </p:txBody>
      </p:sp>
      <p:sp>
        <p:nvSpPr>
          <p:cNvPr id="3" name="Content Placeholder 2">
            <a:extLst>
              <a:ext uri="{FF2B5EF4-FFF2-40B4-BE49-F238E27FC236}">
                <a16:creationId xmlns:a16="http://schemas.microsoft.com/office/drawing/2014/main" id="{8B85A549-01FC-9931-C1B8-6BB2DCAE9DA2}"/>
              </a:ext>
            </a:extLst>
          </p:cNvPr>
          <p:cNvSpPr>
            <a:spLocks noGrp="1"/>
          </p:cNvSpPr>
          <p:nvPr>
            <p:ph idx="1"/>
          </p:nvPr>
        </p:nvSpPr>
        <p:spPr>
          <a:xfrm>
            <a:off x="1451578" y="2029928"/>
            <a:ext cx="9603275" cy="4037749"/>
          </a:xfrm>
        </p:spPr>
        <p:txBody>
          <a:bodyPr>
            <a:normAutofit/>
          </a:bodyPr>
          <a:lstStyle/>
          <a:p>
            <a:r>
              <a:rPr lang="en-US" sz="2000" dirty="0">
                <a:latin typeface="Garamond" pitchFamily="18" charset="0"/>
              </a:rPr>
              <a:t>Addressing the global health challenge of cardiovascular disease (CVD) through the development of the ACVD-HBOMDL Model.</a:t>
            </a:r>
          </a:p>
          <a:p>
            <a:r>
              <a:rPr lang="en-US" sz="2000" dirty="0">
                <a:latin typeface="Garamond" pitchFamily="18" charset="0"/>
              </a:rPr>
              <a:t>Integrating min-max scaling, Honey Badger Optimization for feature selection, and a modified deep learning neural network for CVD classification, enhanced by Bayesian hyperparameter tuning.</a:t>
            </a:r>
          </a:p>
          <a:p>
            <a:r>
              <a:rPr lang="en-US" sz="2000" dirty="0">
                <a:latin typeface="Garamond" pitchFamily="18" charset="0"/>
              </a:rPr>
              <a:t>Targeting crucial aspects - feature selection and hyperparameter tuning, addressing challenges in handling large healthcare datasets. HBO and DLMNN together offer a novel approach for accurate and rapid CVD diagnosis.</a:t>
            </a:r>
          </a:p>
        </p:txBody>
      </p:sp>
    </p:spTree>
    <p:extLst>
      <p:ext uri="{BB962C8B-B14F-4D97-AF65-F5344CB8AC3E}">
        <p14:creationId xmlns:p14="http://schemas.microsoft.com/office/powerpoint/2010/main" val="25933280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393EDF-3D1A-08CA-5E99-A0440F25FA49}"/>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FBD968D8-6D55-1201-8BB4-8FF75D2410DA}"/>
              </a:ext>
            </a:extLst>
          </p:cNvPr>
          <p:cNvSpPr>
            <a:spLocks noGrp="1"/>
          </p:cNvSpPr>
          <p:nvPr>
            <p:ph idx="1"/>
          </p:nvPr>
        </p:nvSpPr>
        <p:spPr>
          <a:xfrm>
            <a:off x="1451579" y="1832238"/>
            <a:ext cx="9603275" cy="4037749"/>
          </a:xfrm>
        </p:spPr>
        <p:txBody>
          <a:bodyPr>
            <a:noAutofit/>
          </a:bodyPr>
          <a:lstStyle/>
          <a:p>
            <a:r>
              <a:rPr lang="en-US" sz="1700" dirty="0">
                <a:latin typeface="Garamond" pitchFamily="18" charset="0"/>
              </a:rPr>
              <a:t>Cardiovascular disease (CVD) is a major cause of mortality, necessitating preemptive measures for early detection and risk prediction.</a:t>
            </a:r>
          </a:p>
          <a:p>
            <a:r>
              <a:rPr lang="en-US" sz="1700" dirty="0">
                <a:latin typeface="Garamond" pitchFamily="18" charset="0"/>
              </a:rPr>
              <a:t>The project leverages electronic health records to create a decision support system, combining patient data, artificial intelligence, and domain knowledge for efficient CVD diagnosis.</a:t>
            </a:r>
          </a:p>
          <a:p>
            <a:r>
              <a:rPr lang="en-US" sz="1700" dirty="0">
                <a:latin typeface="Garamond" pitchFamily="18" charset="0"/>
              </a:rPr>
              <a:t>Conventional manual analysis of heart disease information is time-consuming and prone to misdiagnosis, highlighting the need for more effective approaches.</a:t>
            </a:r>
          </a:p>
          <a:p>
            <a:r>
              <a:rPr lang="en-US" sz="1700" dirty="0">
                <a:latin typeface="Garamond" pitchFamily="18" charset="0"/>
              </a:rPr>
              <a:t>Emphasizing the role of artificial intelligence, particularly deep learning and machine learning, the project aims to build a predictive model for CVD detection, surpassing the limitations of manual methods.</a:t>
            </a:r>
          </a:p>
          <a:p>
            <a:r>
              <a:rPr lang="en-US" sz="1700" dirty="0">
                <a:latin typeface="Garamond" pitchFamily="18" charset="0"/>
              </a:rPr>
              <a:t>The project introduces the Automated Cardiovascular Disease Diagnosis using Honey Badger Optimization with Modified Deep Learning (ACVD-HBOMDL) Model, integrating standard scaling, Honey Badger Optimization, Deep Learning Modified Neural Network, and Bayesian optimization for enhanced accuracy and performance in CVD detection.</a:t>
            </a:r>
          </a:p>
        </p:txBody>
      </p:sp>
    </p:spTree>
    <p:extLst>
      <p:ext uri="{BB962C8B-B14F-4D97-AF65-F5344CB8AC3E}">
        <p14:creationId xmlns:p14="http://schemas.microsoft.com/office/powerpoint/2010/main" val="22474025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D83E57-1804-EC32-EF10-7766F2000852}"/>
              </a:ext>
            </a:extLst>
          </p:cNvPr>
          <p:cNvSpPr>
            <a:spLocks noGrp="1"/>
          </p:cNvSpPr>
          <p:nvPr>
            <p:ph type="title"/>
          </p:nvPr>
        </p:nvSpPr>
        <p:spPr/>
        <p:txBody>
          <a:bodyPr/>
          <a:lstStyle/>
          <a:p>
            <a:r>
              <a:rPr lang="en-US" dirty="0"/>
              <a:t>Problem statement</a:t>
            </a:r>
          </a:p>
        </p:txBody>
      </p:sp>
      <p:sp>
        <p:nvSpPr>
          <p:cNvPr id="3" name="Content Placeholder 2">
            <a:extLst>
              <a:ext uri="{FF2B5EF4-FFF2-40B4-BE49-F238E27FC236}">
                <a16:creationId xmlns:a16="http://schemas.microsoft.com/office/drawing/2014/main" id="{4C1D492A-5C90-08F3-15A8-7F6F85E7F951}"/>
              </a:ext>
            </a:extLst>
          </p:cNvPr>
          <p:cNvSpPr>
            <a:spLocks noGrp="1"/>
          </p:cNvSpPr>
          <p:nvPr>
            <p:ph idx="1"/>
          </p:nvPr>
        </p:nvSpPr>
        <p:spPr/>
        <p:txBody>
          <a:bodyPr>
            <a:normAutofit fontScale="92500" lnSpcReduction="20000"/>
          </a:bodyPr>
          <a:lstStyle/>
          <a:p>
            <a:r>
              <a:rPr lang="en-US" sz="2000" dirty="0">
                <a:latin typeface="Garamond" pitchFamily="18" charset="0"/>
              </a:rPr>
              <a:t>Despite medical technology advancements, accurate and timely CVD diagnosis remains challenging. Expanding healthcare datasets complicate disease prediction, hindering practitioners in understanding intricate feature relationships.</a:t>
            </a:r>
          </a:p>
          <a:p>
            <a:r>
              <a:rPr lang="en-US" sz="2000" dirty="0">
                <a:latin typeface="Garamond" pitchFamily="18" charset="0"/>
              </a:rPr>
              <a:t>Individuals, especially those with risk factors like hypertension, diabetes, and obesity, face increased susceptibility to CVD. Healthcare providers struggle to deliver preventive measures and early interventions.</a:t>
            </a:r>
          </a:p>
          <a:p>
            <a:r>
              <a:rPr lang="en-US" sz="2000" dirty="0">
                <a:latin typeface="Garamond" pitchFamily="18" charset="0"/>
              </a:rPr>
              <a:t>Introducing the ACVD-HBOMDL Model to tackle complex CVD prediction challenges. Utilizing advanced machine learning techniques for feature selection and hyperparameter tuning aims to enhance diagnostic accuracy, speed, and ultimately improve patient outcomes while easing healthcare system burdens. </a:t>
            </a:r>
          </a:p>
          <a:p>
            <a:endParaRPr lang="en-US" dirty="0"/>
          </a:p>
        </p:txBody>
      </p:sp>
    </p:spTree>
    <p:extLst>
      <p:ext uri="{BB962C8B-B14F-4D97-AF65-F5344CB8AC3E}">
        <p14:creationId xmlns:p14="http://schemas.microsoft.com/office/powerpoint/2010/main" val="24923426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7A2BF5-29CD-50EE-F322-7056FE0209E9}"/>
              </a:ext>
            </a:extLst>
          </p:cNvPr>
          <p:cNvSpPr>
            <a:spLocks noGrp="1"/>
          </p:cNvSpPr>
          <p:nvPr>
            <p:ph type="title"/>
          </p:nvPr>
        </p:nvSpPr>
        <p:spPr/>
        <p:txBody>
          <a:bodyPr/>
          <a:lstStyle/>
          <a:p>
            <a:r>
              <a:rPr lang="en-US" dirty="0"/>
              <a:t>objective</a:t>
            </a:r>
          </a:p>
        </p:txBody>
      </p:sp>
      <p:sp>
        <p:nvSpPr>
          <p:cNvPr id="3" name="Content Placeholder 2">
            <a:extLst>
              <a:ext uri="{FF2B5EF4-FFF2-40B4-BE49-F238E27FC236}">
                <a16:creationId xmlns:a16="http://schemas.microsoft.com/office/drawing/2014/main" id="{A63F83FA-CE99-6D11-72B4-CFB468335F66}"/>
              </a:ext>
            </a:extLst>
          </p:cNvPr>
          <p:cNvSpPr>
            <a:spLocks noGrp="1"/>
          </p:cNvSpPr>
          <p:nvPr>
            <p:ph idx="1"/>
          </p:nvPr>
        </p:nvSpPr>
        <p:spPr>
          <a:xfrm>
            <a:off x="1451580" y="2015731"/>
            <a:ext cx="9747132" cy="4191431"/>
          </a:xfrm>
        </p:spPr>
        <p:txBody>
          <a:bodyPr>
            <a:normAutofit lnSpcReduction="10000"/>
          </a:bodyPr>
          <a:lstStyle/>
          <a:p>
            <a:r>
              <a:rPr lang="en-US" sz="2000" dirty="0">
                <a:latin typeface="Garamond" pitchFamily="18" charset="0"/>
              </a:rPr>
              <a:t>The goal is to develop the ACVD-HBOMDL model, aiming to precisely classify cardiovascular diseases through advanced machine learning techniques.</a:t>
            </a:r>
          </a:p>
          <a:p>
            <a:r>
              <a:rPr lang="en-US" sz="2000" dirty="0">
                <a:latin typeface="Garamond" pitchFamily="18" charset="0"/>
              </a:rPr>
              <a:t>The objective is to employ the Honey Badger Optimization for feature selection, with the goal of enhancing model efficiency by identifying crucial features in medical datasets.</a:t>
            </a:r>
          </a:p>
          <a:p>
            <a:r>
              <a:rPr lang="en-US" sz="2000" dirty="0">
                <a:latin typeface="Garamond" pitchFamily="18" charset="0"/>
              </a:rPr>
              <a:t>The goal is to apply Standard scaling for preprocessing medical data, with the objective of ensuring standardized inputs to achieve robust model performance.</a:t>
            </a:r>
          </a:p>
          <a:p>
            <a:r>
              <a:rPr lang="en-US" sz="2000" dirty="0">
                <a:latin typeface="Garamond" pitchFamily="18" charset="0"/>
              </a:rPr>
              <a:t>The objective is to optimize the hyperparameters of the DLMNN classifier using Bayesian optimization, aiming to achieve improved model precision and generalization.</a:t>
            </a:r>
          </a:p>
          <a:p>
            <a:r>
              <a:rPr lang="en-US" sz="2000" dirty="0">
                <a:latin typeface="Garamond" pitchFamily="18" charset="0"/>
              </a:rPr>
              <a:t>The goal is to evaluate the ACVD-HBOMDL on benchmark medical datasets, with the objective of validating its practical effectiveness in real-world scenarios. </a:t>
            </a:r>
          </a:p>
        </p:txBody>
      </p:sp>
    </p:spTree>
    <p:extLst>
      <p:ext uri="{BB962C8B-B14F-4D97-AF65-F5344CB8AC3E}">
        <p14:creationId xmlns:p14="http://schemas.microsoft.com/office/powerpoint/2010/main" val="433039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766A3-1128-690F-0E76-4EAE3C279A92}"/>
              </a:ext>
            </a:extLst>
          </p:cNvPr>
          <p:cNvSpPr>
            <a:spLocks noGrp="1"/>
          </p:cNvSpPr>
          <p:nvPr>
            <p:ph type="title"/>
          </p:nvPr>
        </p:nvSpPr>
        <p:spPr/>
        <p:txBody>
          <a:bodyPr/>
          <a:lstStyle/>
          <a:p>
            <a:r>
              <a:rPr lang="en-US" dirty="0"/>
              <a:t>Literature survey</a:t>
            </a:r>
          </a:p>
        </p:txBody>
      </p:sp>
      <p:sp>
        <p:nvSpPr>
          <p:cNvPr id="3" name="Content Placeholder 2">
            <a:extLst>
              <a:ext uri="{FF2B5EF4-FFF2-40B4-BE49-F238E27FC236}">
                <a16:creationId xmlns:a16="http://schemas.microsoft.com/office/drawing/2014/main" id="{B7FC8661-DA16-DE45-EFCC-96C4E768FC25}"/>
              </a:ext>
            </a:extLst>
          </p:cNvPr>
          <p:cNvSpPr>
            <a:spLocks noGrp="1"/>
          </p:cNvSpPr>
          <p:nvPr>
            <p:ph idx="1"/>
          </p:nvPr>
        </p:nvSpPr>
        <p:spPr/>
        <p:txBody>
          <a:bodyPr/>
          <a:lstStyle/>
          <a:p>
            <a:pPr algn="just"/>
            <a:r>
              <a:rPr lang="en-US" b="1" dirty="0">
                <a:solidFill>
                  <a:schemeClr val="dk1"/>
                </a:solidFill>
                <a:latin typeface="Garamond" panose="02020404030301010803" pitchFamily="18" charset="0"/>
              </a:rPr>
              <a:t>TITLE</a:t>
            </a:r>
            <a:r>
              <a:rPr lang="en-US" dirty="0">
                <a:solidFill>
                  <a:schemeClr val="dk1"/>
                </a:solidFill>
                <a:latin typeface="Garamond" panose="02020404030301010803" pitchFamily="18" charset="0"/>
              </a:rPr>
              <a:t> - </a:t>
            </a:r>
            <a:r>
              <a:rPr kumimoji="0" lang="en-US" sz="2000" b="0" i="0" kern="1200" dirty="0">
                <a:solidFill>
                  <a:schemeClr val="dk1"/>
                </a:solidFill>
                <a:effectLst/>
                <a:latin typeface="Garamond" panose="02020404030301010803" pitchFamily="18" charset="0"/>
                <a:ea typeface="+mn-ea"/>
                <a:cs typeface="+mn-cs"/>
              </a:rPr>
              <a:t>An Ensemble Feature Selection Methodology That Incorporates Domain Knowledge for Cardiovascular Disease Diagnosis</a:t>
            </a:r>
          </a:p>
          <a:p>
            <a:r>
              <a:rPr kumimoji="0" lang="en-US" sz="2000" b="1" i="0" kern="1200" dirty="0">
                <a:solidFill>
                  <a:schemeClr val="dk1"/>
                </a:solidFill>
                <a:effectLst/>
                <a:latin typeface="Garamond" panose="02020404030301010803" pitchFamily="18" charset="0"/>
                <a:ea typeface="+mn-ea"/>
                <a:cs typeface="+mn-cs"/>
              </a:rPr>
              <a:t>AUTHOR </a:t>
            </a:r>
            <a:r>
              <a:rPr kumimoji="0" lang="en-US" sz="2000" i="0" kern="1200" dirty="0">
                <a:solidFill>
                  <a:schemeClr val="dk1"/>
                </a:solidFill>
                <a:effectLst/>
                <a:latin typeface="Garamond" panose="02020404030301010803" pitchFamily="18" charset="0"/>
                <a:ea typeface="+mn-ea"/>
                <a:cs typeface="+mn-cs"/>
              </a:rPr>
              <a:t>- </a:t>
            </a:r>
            <a:r>
              <a:rPr lang="en-US" sz="2000" dirty="0" err="1">
                <a:solidFill>
                  <a:schemeClr val="tx1">
                    <a:lumMod val="95000"/>
                    <a:lumOff val="5000"/>
                  </a:schemeClr>
                </a:solidFill>
                <a:latin typeface="Garamond" pitchFamily="18" charset="0"/>
              </a:rPr>
              <a:t>Burak</a:t>
            </a:r>
            <a:r>
              <a:rPr lang="en-US" sz="2000" dirty="0">
                <a:solidFill>
                  <a:schemeClr val="tx1">
                    <a:lumMod val="95000"/>
                    <a:lumOff val="5000"/>
                  </a:schemeClr>
                </a:solidFill>
                <a:latin typeface="Garamond" pitchFamily="18" charset="0"/>
              </a:rPr>
              <a:t> </a:t>
            </a:r>
            <a:r>
              <a:rPr lang="en-US" sz="2000" dirty="0" err="1">
                <a:solidFill>
                  <a:schemeClr val="tx1">
                    <a:lumMod val="95000"/>
                    <a:lumOff val="5000"/>
                  </a:schemeClr>
                </a:solidFill>
                <a:latin typeface="Garamond" pitchFamily="18" charset="0"/>
              </a:rPr>
              <a:t>Kolukisa</a:t>
            </a:r>
            <a:r>
              <a:rPr lang="en-US" sz="2000" dirty="0">
                <a:solidFill>
                  <a:schemeClr val="tx1">
                    <a:lumMod val="95000"/>
                    <a:lumOff val="5000"/>
                  </a:schemeClr>
                </a:solidFill>
                <a:latin typeface="Garamond" pitchFamily="18" charset="0"/>
              </a:rPr>
              <a:t>, V. C. </a:t>
            </a:r>
            <a:r>
              <a:rPr lang="en-US" sz="2000" dirty="0" err="1">
                <a:solidFill>
                  <a:schemeClr val="tx1">
                    <a:lumMod val="95000"/>
                    <a:lumOff val="5000"/>
                  </a:schemeClr>
                </a:solidFill>
                <a:latin typeface="Garamond" pitchFamily="18" charset="0"/>
              </a:rPr>
              <a:t>Gungor</a:t>
            </a:r>
            <a:r>
              <a:rPr lang="en-US" sz="2000" dirty="0">
                <a:solidFill>
                  <a:schemeClr val="tx1">
                    <a:lumMod val="95000"/>
                    <a:lumOff val="5000"/>
                  </a:schemeClr>
                </a:solidFill>
                <a:latin typeface="Garamond" pitchFamily="18" charset="0"/>
              </a:rPr>
              <a:t>, Burau Bakir-</a:t>
            </a:r>
            <a:r>
              <a:rPr lang="en-US" sz="2000" dirty="0" err="1">
                <a:solidFill>
                  <a:schemeClr val="tx1">
                    <a:lumMod val="95000"/>
                    <a:lumOff val="5000"/>
                  </a:schemeClr>
                </a:solidFill>
                <a:latin typeface="Garamond" pitchFamily="18" charset="0"/>
              </a:rPr>
              <a:t>Gungor</a:t>
            </a:r>
            <a:endParaRPr lang="en-US" sz="2000" dirty="0">
              <a:solidFill>
                <a:schemeClr val="tx1">
                  <a:lumMod val="95000"/>
                  <a:lumOff val="5000"/>
                </a:schemeClr>
              </a:solidFill>
              <a:latin typeface="Garamond" pitchFamily="18" charset="0"/>
            </a:endParaRPr>
          </a:p>
          <a:p>
            <a:r>
              <a:rPr kumimoji="0" lang="en-US" sz="2000" b="1" i="0" kern="1200" dirty="0">
                <a:solidFill>
                  <a:schemeClr val="dk1"/>
                </a:solidFill>
                <a:effectLst/>
                <a:latin typeface="Garamond" panose="02020404030301010803" pitchFamily="18" charset="0"/>
                <a:ea typeface="+mn-ea"/>
                <a:cs typeface="+mn-cs"/>
              </a:rPr>
              <a:t>YEAR </a:t>
            </a:r>
            <a:r>
              <a:rPr kumimoji="0" lang="en-US" sz="2000" i="0" kern="1200" dirty="0">
                <a:solidFill>
                  <a:schemeClr val="dk1"/>
                </a:solidFill>
                <a:effectLst/>
                <a:latin typeface="Garamond" panose="02020404030301010803" pitchFamily="18" charset="0"/>
                <a:ea typeface="+mn-ea"/>
                <a:cs typeface="+mn-cs"/>
              </a:rPr>
              <a:t>– 2020</a:t>
            </a:r>
          </a:p>
          <a:p>
            <a:r>
              <a:rPr kumimoji="0" lang="en-US" sz="2000" b="1" i="0" kern="1200" dirty="0">
                <a:solidFill>
                  <a:schemeClr val="dk1"/>
                </a:solidFill>
                <a:effectLst/>
                <a:latin typeface="Garamond" panose="02020404030301010803" pitchFamily="18" charset="0"/>
                <a:ea typeface="+mn-ea"/>
                <a:cs typeface="+mn-cs"/>
              </a:rPr>
              <a:t>METHODOLOGY </a:t>
            </a:r>
            <a:r>
              <a:rPr kumimoji="0" lang="en-US" sz="2000" i="0" kern="1200" dirty="0">
                <a:solidFill>
                  <a:schemeClr val="dk1"/>
                </a:solidFill>
                <a:effectLst/>
                <a:latin typeface="Garamond" panose="02020404030301010803" pitchFamily="18" charset="0"/>
                <a:ea typeface="+mn-ea"/>
                <a:cs typeface="+mn-cs"/>
              </a:rPr>
              <a:t>- </a:t>
            </a:r>
            <a:r>
              <a:rPr lang="en-US" sz="2000" b="0" dirty="0">
                <a:solidFill>
                  <a:srgbClr val="000000"/>
                </a:solidFill>
                <a:latin typeface="Garamond" panose="02020404030301010803" pitchFamily="18" charset="0"/>
              </a:rPr>
              <a:t>The envisioned system leverages machine learning for cost-effective CAD diagnosis through the analysis of specific physical and biochemical values. Results show promise, with the Multilayer Perceptron achieving 85.47% accuracy using nine selected features, indicating potential for an accurate and efficient CAD classification system.</a:t>
            </a:r>
            <a:endParaRPr kumimoji="0" lang="en-US" sz="2000" b="1" i="0" kern="1200" dirty="0">
              <a:solidFill>
                <a:schemeClr val="dk1"/>
              </a:solidFill>
              <a:effectLst/>
              <a:latin typeface="Garamond" panose="02020404030301010803" pitchFamily="18" charset="0"/>
              <a:ea typeface="+mn-ea"/>
              <a:cs typeface="+mn-cs"/>
            </a:endParaRPr>
          </a:p>
          <a:p>
            <a:endParaRPr lang="en-US" dirty="0"/>
          </a:p>
        </p:txBody>
      </p:sp>
    </p:spTree>
    <p:extLst>
      <p:ext uri="{BB962C8B-B14F-4D97-AF65-F5344CB8AC3E}">
        <p14:creationId xmlns:p14="http://schemas.microsoft.com/office/powerpoint/2010/main" val="39075892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766A3-1128-690F-0E76-4EAE3C279A92}"/>
              </a:ext>
            </a:extLst>
          </p:cNvPr>
          <p:cNvSpPr>
            <a:spLocks noGrp="1"/>
          </p:cNvSpPr>
          <p:nvPr>
            <p:ph type="title"/>
          </p:nvPr>
        </p:nvSpPr>
        <p:spPr/>
        <p:txBody>
          <a:bodyPr/>
          <a:lstStyle/>
          <a:p>
            <a:r>
              <a:rPr lang="en-US" dirty="0"/>
              <a:t>Literature survey</a:t>
            </a:r>
          </a:p>
        </p:txBody>
      </p:sp>
      <p:sp>
        <p:nvSpPr>
          <p:cNvPr id="3" name="Content Placeholder 2">
            <a:extLst>
              <a:ext uri="{FF2B5EF4-FFF2-40B4-BE49-F238E27FC236}">
                <a16:creationId xmlns:a16="http://schemas.microsoft.com/office/drawing/2014/main" id="{B7FC8661-DA16-DE45-EFCC-96C4E768FC25}"/>
              </a:ext>
            </a:extLst>
          </p:cNvPr>
          <p:cNvSpPr>
            <a:spLocks noGrp="1"/>
          </p:cNvSpPr>
          <p:nvPr>
            <p:ph idx="1"/>
          </p:nvPr>
        </p:nvSpPr>
        <p:spPr/>
        <p:txBody>
          <a:bodyPr>
            <a:normAutofit/>
          </a:bodyPr>
          <a:lstStyle/>
          <a:p>
            <a:pPr algn="just"/>
            <a:r>
              <a:rPr lang="en-US" b="1" dirty="0">
                <a:solidFill>
                  <a:schemeClr val="dk1"/>
                </a:solidFill>
                <a:latin typeface="Garamond" panose="02020404030301010803" pitchFamily="18" charset="0"/>
              </a:rPr>
              <a:t>TITLE</a:t>
            </a:r>
            <a:r>
              <a:rPr lang="en-US" dirty="0">
                <a:solidFill>
                  <a:schemeClr val="dk1"/>
                </a:solidFill>
                <a:latin typeface="Garamond" panose="02020404030301010803" pitchFamily="18" charset="0"/>
              </a:rPr>
              <a:t> - </a:t>
            </a:r>
            <a:r>
              <a:rPr lang="en-US" sz="2000" dirty="0">
                <a:solidFill>
                  <a:schemeClr val="tx1">
                    <a:lumMod val="95000"/>
                    <a:lumOff val="5000"/>
                  </a:schemeClr>
                </a:solidFill>
                <a:latin typeface="Garamond" pitchFamily="18" charset="0"/>
              </a:rPr>
              <a:t>An optimal artificial neural network based big data application for heart disease diagnosis and classification model</a:t>
            </a:r>
            <a:endParaRPr kumimoji="0" lang="en-US" sz="2000" b="0" i="0" kern="1200" dirty="0">
              <a:solidFill>
                <a:schemeClr val="dk1"/>
              </a:solidFill>
              <a:effectLst/>
              <a:latin typeface="Garamond" panose="02020404030301010803" pitchFamily="18" charset="0"/>
              <a:ea typeface="+mn-ea"/>
              <a:cs typeface="+mn-cs"/>
            </a:endParaRPr>
          </a:p>
          <a:p>
            <a:r>
              <a:rPr kumimoji="0" lang="en-US" sz="2000" b="1" i="0" kern="1200" dirty="0">
                <a:solidFill>
                  <a:schemeClr val="dk1"/>
                </a:solidFill>
                <a:effectLst/>
                <a:latin typeface="Garamond" panose="02020404030301010803" pitchFamily="18" charset="0"/>
                <a:ea typeface="+mn-ea"/>
                <a:cs typeface="+mn-cs"/>
              </a:rPr>
              <a:t>AUTHOR </a:t>
            </a:r>
            <a:r>
              <a:rPr kumimoji="0" lang="en-US" sz="2000" i="0" kern="1200" dirty="0">
                <a:solidFill>
                  <a:schemeClr val="dk1"/>
                </a:solidFill>
                <a:effectLst/>
                <a:latin typeface="Garamond" panose="02020404030301010803" pitchFamily="18" charset="0"/>
                <a:ea typeface="+mn-ea"/>
                <a:cs typeface="+mn-cs"/>
              </a:rPr>
              <a:t>- </a:t>
            </a:r>
            <a:r>
              <a:rPr lang="en-US" sz="2000" dirty="0">
                <a:solidFill>
                  <a:schemeClr val="tx1">
                    <a:lumMod val="95000"/>
                    <a:lumOff val="5000"/>
                  </a:schemeClr>
                </a:solidFill>
                <a:latin typeface="Garamond" pitchFamily="18" charset="0"/>
              </a:rPr>
              <a:t>R. T. </a:t>
            </a:r>
            <a:r>
              <a:rPr lang="en-US" sz="2000" dirty="0" err="1">
                <a:solidFill>
                  <a:schemeClr val="tx1">
                    <a:lumMod val="95000"/>
                    <a:lumOff val="5000"/>
                  </a:schemeClr>
                </a:solidFill>
                <a:latin typeface="Garamond" pitchFamily="18" charset="0"/>
              </a:rPr>
              <a:t>Selvi</a:t>
            </a:r>
            <a:r>
              <a:rPr lang="en-US" sz="2000" dirty="0">
                <a:solidFill>
                  <a:schemeClr val="tx1">
                    <a:lumMod val="95000"/>
                    <a:lumOff val="5000"/>
                  </a:schemeClr>
                </a:solidFill>
                <a:latin typeface="Garamond" pitchFamily="18" charset="0"/>
              </a:rPr>
              <a:t> and </a:t>
            </a:r>
            <a:r>
              <a:rPr lang="en-US" sz="2000" dirty="0" err="1">
                <a:solidFill>
                  <a:schemeClr val="tx1">
                    <a:lumMod val="95000"/>
                    <a:lumOff val="5000"/>
                  </a:schemeClr>
                </a:solidFill>
                <a:latin typeface="Garamond" pitchFamily="18" charset="0"/>
              </a:rPr>
              <a:t>I.Muthulakshmi</a:t>
            </a:r>
            <a:endParaRPr lang="en-US" sz="2000" dirty="0">
              <a:solidFill>
                <a:schemeClr val="tx1">
                  <a:lumMod val="95000"/>
                  <a:lumOff val="5000"/>
                </a:schemeClr>
              </a:solidFill>
              <a:latin typeface="Garamond" pitchFamily="18" charset="0"/>
            </a:endParaRPr>
          </a:p>
          <a:p>
            <a:r>
              <a:rPr kumimoji="0" lang="en-US" sz="2000" b="1" i="0" kern="1200" dirty="0">
                <a:solidFill>
                  <a:schemeClr val="dk1"/>
                </a:solidFill>
                <a:effectLst/>
                <a:latin typeface="Garamond" panose="02020404030301010803" pitchFamily="18" charset="0"/>
                <a:ea typeface="+mn-ea"/>
                <a:cs typeface="+mn-cs"/>
              </a:rPr>
              <a:t>YEAR </a:t>
            </a:r>
            <a:r>
              <a:rPr kumimoji="0" lang="en-US" sz="2000" i="0" kern="1200" dirty="0">
                <a:solidFill>
                  <a:schemeClr val="dk1"/>
                </a:solidFill>
                <a:effectLst/>
                <a:latin typeface="Garamond" panose="02020404030301010803" pitchFamily="18" charset="0"/>
                <a:ea typeface="+mn-ea"/>
                <a:cs typeface="+mn-cs"/>
              </a:rPr>
              <a:t>– 2020</a:t>
            </a:r>
            <a:endParaRPr lang="en-US" dirty="0">
              <a:solidFill>
                <a:schemeClr val="dk1"/>
              </a:solidFill>
              <a:latin typeface="Garamond" panose="02020404030301010803" pitchFamily="18" charset="0"/>
            </a:endParaRPr>
          </a:p>
          <a:p>
            <a:pPr algn="just"/>
            <a:r>
              <a:rPr kumimoji="0" lang="en-US" sz="2000" b="1" i="0" kern="1200" dirty="0">
                <a:solidFill>
                  <a:schemeClr val="dk1"/>
                </a:solidFill>
                <a:effectLst/>
                <a:latin typeface="Garamond" panose="02020404030301010803" pitchFamily="18" charset="0"/>
                <a:ea typeface="+mn-ea"/>
                <a:cs typeface="+mn-cs"/>
              </a:rPr>
              <a:t>METHODOLOGY </a:t>
            </a:r>
            <a:r>
              <a:rPr kumimoji="0" lang="en-US" sz="2000" i="0" kern="1200" dirty="0">
                <a:solidFill>
                  <a:schemeClr val="dk1"/>
                </a:solidFill>
                <a:effectLst/>
                <a:latin typeface="Garamond" panose="02020404030301010803" pitchFamily="18" charset="0"/>
                <a:ea typeface="+mn-ea"/>
                <a:cs typeface="+mn-cs"/>
              </a:rPr>
              <a:t>- </a:t>
            </a:r>
            <a:r>
              <a:rPr lang="en-US" sz="2000" dirty="0">
                <a:solidFill>
                  <a:srgbClr val="000000"/>
                </a:solidFill>
                <a:latin typeface="Garamond" panose="02020404030301010803" pitchFamily="18" charset="0"/>
              </a:rPr>
              <a:t>The Big Health application utilizes OANN for heart disease diagnosis, addressing resource distribution and cost challenges. Effective in both offline and online predictions, it proves valuable in real-time analysis.</a:t>
            </a:r>
            <a:endParaRPr kumimoji="0" lang="en-US" sz="2000" i="0" kern="1200" dirty="0">
              <a:solidFill>
                <a:schemeClr val="dk1"/>
              </a:solidFill>
              <a:effectLst/>
              <a:latin typeface="Garamond" panose="02020404030301010803" pitchFamily="18" charset="0"/>
              <a:ea typeface="+mn-ea"/>
              <a:cs typeface="+mn-cs"/>
            </a:endParaRPr>
          </a:p>
          <a:p>
            <a:endParaRPr lang="en-US" dirty="0"/>
          </a:p>
        </p:txBody>
      </p:sp>
    </p:spTree>
    <p:extLst>
      <p:ext uri="{BB962C8B-B14F-4D97-AF65-F5344CB8AC3E}">
        <p14:creationId xmlns:p14="http://schemas.microsoft.com/office/powerpoint/2010/main" val="39355324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766A3-1128-690F-0E76-4EAE3C279A92}"/>
              </a:ext>
            </a:extLst>
          </p:cNvPr>
          <p:cNvSpPr>
            <a:spLocks noGrp="1"/>
          </p:cNvSpPr>
          <p:nvPr>
            <p:ph type="title"/>
          </p:nvPr>
        </p:nvSpPr>
        <p:spPr/>
        <p:txBody>
          <a:bodyPr/>
          <a:lstStyle/>
          <a:p>
            <a:r>
              <a:rPr lang="en-US" dirty="0"/>
              <a:t>Literature survey</a:t>
            </a:r>
          </a:p>
        </p:txBody>
      </p:sp>
      <p:sp>
        <p:nvSpPr>
          <p:cNvPr id="3" name="Content Placeholder 2">
            <a:extLst>
              <a:ext uri="{FF2B5EF4-FFF2-40B4-BE49-F238E27FC236}">
                <a16:creationId xmlns:a16="http://schemas.microsoft.com/office/drawing/2014/main" id="{B7FC8661-DA16-DE45-EFCC-96C4E768FC25}"/>
              </a:ext>
            </a:extLst>
          </p:cNvPr>
          <p:cNvSpPr>
            <a:spLocks noGrp="1"/>
          </p:cNvSpPr>
          <p:nvPr>
            <p:ph idx="1"/>
          </p:nvPr>
        </p:nvSpPr>
        <p:spPr/>
        <p:txBody>
          <a:bodyPr>
            <a:normAutofit/>
          </a:bodyPr>
          <a:lstStyle/>
          <a:p>
            <a:pPr algn="just"/>
            <a:r>
              <a:rPr lang="en-US" b="1" dirty="0">
                <a:solidFill>
                  <a:schemeClr val="dk1"/>
                </a:solidFill>
                <a:latin typeface="Garamond" panose="02020404030301010803" pitchFamily="18" charset="0"/>
              </a:rPr>
              <a:t>TITLE</a:t>
            </a:r>
            <a:r>
              <a:rPr lang="en-US" dirty="0">
                <a:solidFill>
                  <a:schemeClr val="dk1"/>
                </a:solidFill>
                <a:latin typeface="Garamond" panose="02020404030301010803" pitchFamily="18" charset="0"/>
              </a:rPr>
              <a:t> - </a:t>
            </a:r>
            <a:r>
              <a:rPr lang="en-US" sz="2000" dirty="0">
                <a:solidFill>
                  <a:schemeClr val="tx1">
                    <a:lumMod val="95000"/>
                    <a:lumOff val="5000"/>
                  </a:schemeClr>
                </a:solidFill>
                <a:latin typeface="Garamond" pitchFamily="18" charset="0"/>
              </a:rPr>
              <a:t>Machine learning and IoT applied to cardiovascular diseases identification through heart sounds: A literature review</a:t>
            </a:r>
            <a:endParaRPr kumimoji="0" lang="en-US" sz="2000" b="0" i="0" kern="1200" dirty="0">
              <a:solidFill>
                <a:schemeClr val="dk1"/>
              </a:solidFill>
              <a:effectLst/>
              <a:latin typeface="Garamond" panose="02020404030301010803" pitchFamily="18" charset="0"/>
              <a:ea typeface="+mn-ea"/>
              <a:cs typeface="+mn-cs"/>
            </a:endParaRPr>
          </a:p>
          <a:p>
            <a:r>
              <a:rPr kumimoji="0" lang="en-US" sz="2000" b="1" i="0" kern="1200" dirty="0">
                <a:solidFill>
                  <a:schemeClr val="dk1"/>
                </a:solidFill>
                <a:effectLst/>
                <a:latin typeface="Garamond" panose="02020404030301010803" pitchFamily="18" charset="0"/>
                <a:ea typeface="+mn-ea"/>
                <a:cs typeface="+mn-cs"/>
              </a:rPr>
              <a:t>AUTHOR </a:t>
            </a:r>
            <a:r>
              <a:rPr kumimoji="0" lang="en-US" sz="2000" i="0" kern="1200" dirty="0">
                <a:solidFill>
                  <a:schemeClr val="dk1"/>
                </a:solidFill>
                <a:effectLst/>
                <a:latin typeface="Garamond" panose="02020404030301010803" pitchFamily="18" charset="0"/>
                <a:ea typeface="+mn-ea"/>
                <a:cs typeface="+mn-cs"/>
              </a:rPr>
              <a:t>- </a:t>
            </a:r>
            <a:r>
              <a:rPr lang="en-US" sz="2000" dirty="0">
                <a:solidFill>
                  <a:schemeClr val="tx1">
                    <a:lumMod val="95000"/>
                    <a:lumOff val="5000"/>
                  </a:schemeClr>
                </a:solidFill>
                <a:latin typeface="Garamond" pitchFamily="18" charset="0"/>
              </a:rPr>
              <a:t>S. </a:t>
            </a:r>
            <a:r>
              <a:rPr lang="en-US" sz="2000" dirty="0" err="1">
                <a:solidFill>
                  <a:schemeClr val="tx1">
                    <a:lumMod val="95000"/>
                    <a:lumOff val="5000"/>
                  </a:schemeClr>
                </a:solidFill>
                <a:latin typeface="Garamond" pitchFamily="18" charset="0"/>
              </a:rPr>
              <a:t>Brites</a:t>
            </a:r>
            <a:r>
              <a:rPr lang="en-US" sz="2000" dirty="0">
                <a:solidFill>
                  <a:schemeClr val="tx1">
                    <a:lumMod val="95000"/>
                    <a:lumOff val="5000"/>
                  </a:schemeClr>
                </a:solidFill>
                <a:latin typeface="Garamond" pitchFamily="18" charset="0"/>
              </a:rPr>
              <a:t>, L. M. Silva, J. L. Barbosa, S. J. </a:t>
            </a:r>
            <a:r>
              <a:rPr lang="en-US" sz="2000" dirty="0" err="1">
                <a:solidFill>
                  <a:schemeClr val="tx1">
                    <a:lumMod val="95000"/>
                    <a:lumOff val="5000"/>
                  </a:schemeClr>
                </a:solidFill>
                <a:latin typeface="Garamond" pitchFamily="18" charset="0"/>
              </a:rPr>
              <a:t>Rigo</a:t>
            </a:r>
            <a:r>
              <a:rPr lang="en-US" sz="2000" dirty="0">
                <a:solidFill>
                  <a:schemeClr val="tx1">
                    <a:lumMod val="95000"/>
                    <a:lumOff val="5000"/>
                  </a:schemeClr>
                </a:solidFill>
                <a:latin typeface="Garamond" pitchFamily="18" charset="0"/>
              </a:rPr>
              <a:t>, S. D. Correia, and V. R. </a:t>
            </a:r>
            <a:r>
              <a:rPr lang="en-US" sz="2000" dirty="0" err="1">
                <a:solidFill>
                  <a:schemeClr val="tx1">
                    <a:lumMod val="95000"/>
                    <a:lumOff val="5000"/>
                  </a:schemeClr>
                </a:solidFill>
                <a:latin typeface="Garamond" pitchFamily="18" charset="0"/>
              </a:rPr>
              <a:t>Leithardt</a:t>
            </a:r>
            <a:endParaRPr lang="en-US" sz="2000" dirty="0">
              <a:solidFill>
                <a:schemeClr val="tx1">
                  <a:lumMod val="95000"/>
                  <a:lumOff val="5000"/>
                </a:schemeClr>
              </a:solidFill>
              <a:latin typeface="Garamond" pitchFamily="18" charset="0"/>
            </a:endParaRPr>
          </a:p>
          <a:p>
            <a:r>
              <a:rPr kumimoji="0" lang="en-US" sz="2000" b="1" i="0" kern="1200" dirty="0">
                <a:solidFill>
                  <a:schemeClr val="dk1"/>
                </a:solidFill>
                <a:effectLst/>
                <a:latin typeface="Garamond" panose="02020404030301010803" pitchFamily="18" charset="0"/>
                <a:ea typeface="+mn-ea"/>
                <a:cs typeface="+mn-cs"/>
              </a:rPr>
              <a:t>YEAR </a:t>
            </a:r>
            <a:r>
              <a:rPr kumimoji="0" lang="en-US" sz="2000" i="0" kern="1200" dirty="0">
                <a:solidFill>
                  <a:schemeClr val="dk1"/>
                </a:solidFill>
                <a:effectLst/>
                <a:latin typeface="Garamond" panose="02020404030301010803" pitchFamily="18" charset="0"/>
                <a:ea typeface="+mn-ea"/>
                <a:cs typeface="+mn-cs"/>
              </a:rPr>
              <a:t>– 2021</a:t>
            </a:r>
            <a:endParaRPr lang="en-US" dirty="0">
              <a:solidFill>
                <a:schemeClr val="dk1"/>
              </a:solidFill>
              <a:latin typeface="Garamond" panose="02020404030301010803" pitchFamily="18" charset="0"/>
            </a:endParaRPr>
          </a:p>
          <a:p>
            <a:r>
              <a:rPr kumimoji="0" lang="en-US" sz="2000" b="1" i="0" kern="1200" dirty="0">
                <a:solidFill>
                  <a:schemeClr val="dk1"/>
                </a:solidFill>
                <a:effectLst/>
                <a:latin typeface="Garamond" panose="02020404030301010803" pitchFamily="18" charset="0"/>
                <a:ea typeface="+mn-ea"/>
                <a:cs typeface="+mn-cs"/>
              </a:rPr>
              <a:t>METHODOLOGY </a:t>
            </a:r>
            <a:r>
              <a:rPr kumimoji="0" lang="en-US" sz="2000" i="0" kern="1200" dirty="0">
                <a:solidFill>
                  <a:schemeClr val="dk1"/>
                </a:solidFill>
                <a:effectLst/>
                <a:latin typeface="Garamond" panose="02020404030301010803" pitchFamily="18" charset="0"/>
                <a:ea typeface="+mn-ea"/>
                <a:cs typeface="+mn-cs"/>
              </a:rPr>
              <a:t>- </a:t>
            </a:r>
            <a:r>
              <a:rPr lang="en-US" sz="2000" b="0" dirty="0">
                <a:solidFill>
                  <a:srgbClr val="000000"/>
                </a:solidFill>
                <a:latin typeface="Garamond" panose="02020404030301010803" pitchFamily="18" charset="0"/>
              </a:rPr>
              <a:t>Integrating machine learning and IoT, the system aims to identify diseases through heart sounds, emphasizing the prevalence of wearable sensors, digital stethoscopes (79.31%), and machine learning algorithms (58.62%) based on the literature review.</a:t>
            </a:r>
            <a:endParaRPr lang="en-IN" sz="2000" b="0" dirty="0">
              <a:solidFill>
                <a:srgbClr val="000000"/>
              </a:solidFill>
              <a:latin typeface="Garamond" panose="02020404030301010803" pitchFamily="18" charset="0"/>
            </a:endParaRPr>
          </a:p>
          <a:p>
            <a:endParaRPr kumimoji="0" lang="en-US" sz="2000" b="1" i="0" kern="1200" dirty="0">
              <a:solidFill>
                <a:schemeClr val="dk1"/>
              </a:solidFill>
              <a:effectLst/>
              <a:latin typeface="Garamond" panose="02020404030301010803" pitchFamily="18" charset="0"/>
              <a:ea typeface="+mn-ea"/>
              <a:cs typeface="+mn-cs"/>
            </a:endParaRPr>
          </a:p>
          <a:p>
            <a:endParaRPr lang="en-US" dirty="0"/>
          </a:p>
        </p:txBody>
      </p:sp>
    </p:spTree>
    <p:extLst>
      <p:ext uri="{BB962C8B-B14F-4D97-AF65-F5344CB8AC3E}">
        <p14:creationId xmlns:p14="http://schemas.microsoft.com/office/powerpoint/2010/main" val="37411298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766A3-1128-690F-0E76-4EAE3C279A92}"/>
              </a:ext>
            </a:extLst>
          </p:cNvPr>
          <p:cNvSpPr>
            <a:spLocks noGrp="1"/>
          </p:cNvSpPr>
          <p:nvPr>
            <p:ph type="title"/>
          </p:nvPr>
        </p:nvSpPr>
        <p:spPr/>
        <p:txBody>
          <a:bodyPr/>
          <a:lstStyle/>
          <a:p>
            <a:r>
              <a:rPr lang="en-US" dirty="0"/>
              <a:t>Literature survey</a:t>
            </a:r>
          </a:p>
        </p:txBody>
      </p:sp>
      <p:sp>
        <p:nvSpPr>
          <p:cNvPr id="3" name="Content Placeholder 2">
            <a:extLst>
              <a:ext uri="{FF2B5EF4-FFF2-40B4-BE49-F238E27FC236}">
                <a16:creationId xmlns:a16="http://schemas.microsoft.com/office/drawing/2014/main" id="{B7FC8661-DA16-DE45-EFCC-96C4E768FC25}"/>
              </a:ext>
            </a:extLst>
          </p:cNvPr>
          <p:cNvSpPr>
            <a:spLocks noGrp="1"/>
          </p:cNvSpPr>
          <p:nvPr>
            <p:ph idx="1"/>
          </p:nvPr>
        </p:nvSpPr>
        <p:spPr/>
        <p:txBody>
          <a:bodyPr>
            <a:normAutofit/>
          </a:bodyPr>
          <a:lstStyle/>
          <a:p>
            <a:pPr algn="just"/>
            <a:r>
              <a:rPr lang="en-US" b="1" dirty="0">
                <a:solidFill>
                  <a:schemeClr val="dk1"/>
                </a:solidFill>
                <a:latin typeface="Garamond" panose="02020404030301010803" pitchFamily="18" charset="0"/>
              </a:rPr>
              <a:t>TITLE</a:t>
            </a:r>
            <a:r>
              <a:rPr lang="en-US" dirty="0">
                <a:solidFill>
                  <a:schemeClr val="dk1"/>
                </a:solidFill>
                <a:latin typeface="Garamond" panose="02020404030301010803" pitchFamily="18" charset="0"/>
              </a:rPr>
              <a:t> - </a:t>
            </a:r>
            <a:r>
              <a:rPr lang="en-US" sz="2000" dirty="0">
                <a:solidFill>
                  <a:schemeClr val="tx1">
                    <a:lumMod val="95000"/>
                    <a:lumOff val="5000"/>
                  </a:schemeClr>
                </a:solidFill>
                <a:latin typeface="Garamond" pitchFamily="18" charset="0"/>
              </a:rPr>
              <a:t>Conceptual design of a machine learning-based wearable soft sensor for non-invasive cardiovascular risk assessment</a:t>
            </a:r>
            <a:endParaRPr kumimoji="0" lang="en-US" sz="2000" b="0" i="0" kern="1200" dirty="0">
              <a:solidFill>
                <a:schemeClr val="dk1"/>
              </a:solidFill>
              <a:effectLst/>
              <a:latin typeface="Garamond" panose="02020404030301010803" pitchFamily="18" charset="0"/>
              <a:ea typeface="+mn-ea"/>
              <a:cs typeface="+mn-cs"/>
            </a:endParaRPr>
          </a:p>
          <a:p>
            <a:r>
              <a:rPr kumimoji="0" lang="en-US" sz="2000" b="1" i="0" kern="1200" dirty="0">
                <a:solidFill>
                  <a:schemeClr val="dk1"/>
                </a:solidFill>
                <a:effectLst/>
                <a:latin typeface="Garamond" panose="02020404030301010803" pitchFamily="18" charset="0"/>
                <a:ea typeface="+mn-ea"/>
                <a:cs typeface="+mn-cs"/>
              </a:rPr>
              <a:t>AUTHOR </a:t>
            </a:r>
            <a:r>
              <a:rPr kumimoji="0" lang="en-US" sz="2000" i="0" kern="1200" dirty="0">
                <a:solidFill>
                  <a:schemeClr val="dk1"/>
                </a:solidFill>
                <a:effectLst/>
                <a:latin typeface="Garamond" panose="02020404030301010803" pitchFamily="18" charset="0"/>
                <a:ea typeface="+mn-ea"/>
                <a:cs typeface="+mn-cs"/>
              </a:rPr>
              <a:t>- </a:t>
            </a:r>
            <a:r>
              <a:rPr lang="en-US" sz="2000" dirty="0">
                <a:solidFill>
                  <a:schemeClr val="tx1">
                    <a:lumMod val="95000"/>
                    <a:lumOff val="5000"/>
                  </a:schemeClr>
                </a:solidFill>
                <a:latin typeface="Garamond" pitchFamily="18" charset="0"/>
              </a:rPr>
              <a:t>P. </a:t>
            </a:r>
            <a:r>
              <a:rPr lang="en-US" sz="2000" dirty="0" err="1">
                <a:solidFill>
                  <a:schemeClr val="tx1">
                    <a:lumMod val="95000"/>
                    <a:lumOff val="5000"/>
                  </a:schemeClr>
                </a:solidFill>
                <a:latin typeface="Garamond" pitchFamily="18" charset="0"/>
              </a:rPr>
              <a:t>Arpaia</a:t>
            </a:r>
            <a:r>
              <a:rPr lang="en-US" sz="2000" dirty="0">
                <a:solidFill>
                  <a:schemeClr val="tx1">
                    <a:lumMod val="95000"/>
                    <a:lumOff val="5000"/>
                  </a:schemeClr>
                </a:solidFill>
                <a:latin typeface="Garamond" pitchFamily="18" charset="0"/>
              </a:rPr>
              <a:t>, R. </a:t>
            </a:r>
            <a:r>
              <a:rPr lang="en-US" sz="2000" dirty="0" err="1">
                <a:solidFill>
                  <a:schemeClr val="tx1">
                    <a:lumMod val="95000"/>
                    <a:lumOff val="5000"/>
                  </a:schemeClr>
                </a:solidFill>
                <a:latin typeface="Garamond" pitchFamily="18" charset="0"/>
              </a:rPr>
              <a:t>Cuocolo</a:t>
            </a:r>
            <a:r>
              <a:rPr lang="en-US" sz="2000" dirty="0">
                <a:solidFill>
                  <a:schemeClr val="tx1">
                    <a:lumMod val="95000"/>
                    <a:lumOff val="5000"/>
                  </a:schemeClr>
                </a:solidFill>
                <a:latin typeface="Garamond" pitchFamily="18" charset="0"/>
              </a:rPr>
              <a:t>, F. Donnarumma, A. Esposito, N. </a:t>
            </a:r>
            <a:r>
              <a:rPr lang="en-US" sz="2000" dirty="0" err="1">
                <a:solidFill>
                  <a:schemeClr val="tx1">
                    <a:lumMod val="95000"/>
                    <a:lumOff val="5000"/>
                  </a:schemeClr>
                </a:solidFill>
                <a:latin typeface="Garamond" pitchFamily="18" charset="0"/>
              </a:rPr>
              <a:t>Moccaldi</a:t>
            </a:r>
            <a:r>
              <a:rPr lang="en-US" sz="2000" dirty="0">
                <a:solidFill>
                  <a:schemeClr val="tx1">
                    <a:lumMod val="95000"/>
                    <a:lumOff val="5000"/>
                  </a:schemeClr>
                </a:solidFill>
                <a:latin typeface="Garamond" pitchFamily="18" charset="0"/>
              </a:rPr>
              <a:t>, A. </a:t>
            </a:r>
            <a:r>
              <a:rPr lang="en-US" sz="2000" dirty="0" err="1">
                <a:solidFill>
                  <a:schemeClr val="tx1">
                    <a:lumMod val="95000"/>
                    <a:lumOff val="5000"/>
                  </a:schemeClr>
                </a:solidFill>
                <a:latin typeface="Garamond" pitchFamily="18" charset="0"/>
              </a:rPr>
              <a:t>Natalizio</a:t>
            </a:r>
            <a:r>
              <a:rPr lang="en-US" sz="2000" dirty="0">
                <a:solidFill>
                  <a:schemeClr val="tx1">
                    <a:lumMod val="95000"/>
                    <a:lumOff val="5000"/>
                  </a:schemeClr>
                </a:solidFill>
                <a:latin typeface="Garamond" pitchFamily="18" charset="0"/>
              </a:rPr>
              <a:t>, and R. </a:t>
            </a:r>
            <a:r>
              <a:rPr lang="en-US" sz="2000" dirty="0" err="1">
                <a:solidFill>
                  <a:schemeClr val="tx1">
                    <a:lumMod val="95000"/>
                    <a:lumOff val="5000"/>
                  </a:schemeClr>
                </a:solidFill>
                <a:latin typeface="Garamond" pitchFamily="18" charset="0"/>
              </a:rPr>
              <a:t>Prevete</a:t>
            </a:r>
            <a:endParaRPr lang="en-US" sz="2000" dirty="0">
              <a:solidFill>
                <a:schemeClr val="tx1">
                  <a:lumMod val="95000"/>
                  <a:lumOff val="5000"/>
                </a:schemeClr>
              </a:solidFill>
              <a:latin typeface="Garamond" pitchFamily="18" charset="0"/>
            </a:endParaRPr>
          </a:p>
          <a:p>
            <a:r>
              <a:rPr kumimoji="0" lang="en-US" sz="2000" b="1" i="0" kern="1200" dirty="0">
                <a:solidFill>
                  <a:schemeClr val="dk1"/>
                </a:solidFill>
                <a:effectLst/>
                <a:latin typeface="Garamond" panose="02020404030301010803" pitchFamily="18" charset="0"/>
                <a:ea typeface="+mn-ea"/>
                <a:cs typeface="+mn-cs"/>
              </a:rPr>
              <a:t>YEAR </a:t>
            </a:r>
            <a:r>
              <a:rPr kumimoji="0" lang="en-US" sz="2000" i="0" kern="1200" dirty="0">
                <a:solidFill>
                  <a:schemeClr val="dk1"/>
                </a:solidFill>
                <a:effectLst/>
                <a:latin typeface="Garamond" panose="02020404030301010803" pitchFamily="18" charset="0"/>
                <a:ea typeface="+mn-ea"/>
                <a:cs typeface="+mn-cs"/>
              </a:rPr>
              <a:t>– 2021</a:t>
            </a:r>
            <a:endParaRPr lang="en-US" dirty="0">
              <a:solidFill>
                <a:schemeClr val="dk1"/>
              </a:solidFill>
              <a:latin typeface="Garamond" panose="02020404030301010803" pitchFamily="18" charset="0"/>
            </a:endParaRPr>
          </a:p>
          <a:p>
            <a:r>
              <a:rPr kumimoji="0" lang="en-US" sz="2000" b="1" i="0" kern="1200" dirty="0">
                <a:solidFill>
                  <a:schemeClr val="dk1"/>
                </a:solidFill>
                <a:effectLst/>
                <a:latin typeface="Garamond" panose="02020404030301010803" pitchFamily="18" charset="0"/>
                <a:ea typeface="+mn-ea"/>
                <a:cs typeface="+mn-cs"/>
              </a:rPr>
              <a:t>METHODOLOGY </a:t>
            </a:r>
            <a:r>
              <a:rPr kumimoji="0" lang="en-US" sz="2000" i="0" kern="1200" dirty="0">
                <a:solidFill>
                  <a:schemeClr val="dk1"/>
                </a:solidFill>
                <a:effectLst/>
                <a:latin typeface="Garamond" panose="02020404030301010803" pitchFamily="18" charset="0"/>
                <a:ea typeface="+mn-ea"/>
                <a:cs typeface="+mn-cs"/>
              </a:rPr>
              <a:t>- </a:t>
            </a:r>
            <a:r>
              <a:rPr lang="en-US" sz="2000" b="0" dirty="0">
                <a:solidFill>
                  <a:srgbClr val="000000"/>
                </a:solidFill>
                <a:latin typeface="Garamond" panose="02020404030301010803" pitchFamily="18" charset="0"/>
              </a:rPr>
              <a:t>The envisioned system focuses on home care for the elderly, utilizing the soft sensor for real-time cardiovascular risk assessment with an 80% accuracy, even with limited training data.</a:t>
            </a:r>
            <a:endParaRPr lang="en-IN" sz="2000" b="0" dirty="0">
              <a:solidFill>
                <a:srgbClr val="000000"/>
              </a:solidFill>
              <a:latin typeface="Garamond" panose="02020404030301010803" pitchFamily="18" charset="0"/>
            </a:endParaRPr>
          </a:p>
          <a:p>
            <a:endParaRPr kumimoji="0" lang="en-US" sz="2000" b="1" i="0" kern="1200" dirty="0">
              <a:solidFill>
                <a:schemeClr val="dk1"/>
              </a:solidFill>
              <a:effectLst/>
              <a:latin typeface="Garamond" panose="02020404030301010803" pitchFamily="18" charset="0"/>
              <a:ea typeface="+mn-ea"/>
              <a:cs typeface="+mn-cs"/>
            </a:endParaRPr>
          </a:p>
          <a:p>
            <a:endParaRPr lang="en-US" dirty="0"/>
          </a:p>
        </p:txBody>
      </p:sp>
    </p:spTree>
    <p:extLst>
      <p:ext uri="{BB962C8B-B14F-4D97-AF65-F5344CB8AC3E}">
        <p14:creationId xmlns:p14="http://schemas.microsoft.com/office/powerpoint/2010/main" val="17178302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766A3-1128-690F-0E76-4EAE3C279A92}"/>
              </a:ext>
            </a:extLst>
          </p:cNvPr>
          <p:cNvSpPr>
            <a:spLocks noGrp="1"/>
          </p:cNvSpPr>
          <p:nvPr>
            <p:ph type="title"/>
          </p:nvPr>
        </p:nvSpPr>
        <p:spPr/>
        <p:txBody>
          <a:bodyPr/>
          <a:lstStyle/>
          <a:p>
            <a:r>
              <a:rPr lang="en-US" dirty="0"/>
              <a:t>Literature survey</a:t>
            </a:r>
          </a:p>
        </p:txBody>
      </p:sp>
      <p:sp>
        <p:nvSpPr>
          <p:cNvPr id="3" name="Content Placeholder 2">
            <a:extLst>
              <a:ext uri="{FF2B5EF4-FFF2-40B4-BE49-F238E27FC236}">
                <a16:creationId xmlns:a16="http://schemas.microsoft.com/office/drawing/2014/main" id="{B7FC8661-DA16-DE45-EFCC-96C4E768FC25}"/>
              </a:ext>
            </a:extLst>
          </p:cNvPr>
          <p:cNvSpPr>
            <a:spLocks noGrp="1"/>
          </p:cNvSpPr>
          <p:nvPr>
            <p:ph idx="1"/>
          </p:nvPr>
        </p:nvSpPr>
        <p:spPr/>
        <p:txBody>
          <a:bodyPr>
            <a:normAutofit/>
          </a:bodyPr>
          <a:lstStyle/>
          <a:p>
            <a:pPr algn="just"/>
            <a:r>
              <a:rPr lang="en-US" b="1" dirty="0">
                <a:solidFill>
                  <a:schemeClr val="dk1"/>
                </a:solidFill>
                <a:latin typeface="Garamond" panose="02020404030301010803" pitchFamily="18" charset="0"/>
              </a:rPr>
              <a:t>TITLE</a:t>
            </a:r>
            <a:r>
              <a:rPr lang="en-US" dirty="0">
                <a:solidFill>
                  <a:schemeClr val="dk1"/>
                </a:solidFill>
                <a:latin typeface="Garamond" panose="02020404030301010803" pitchFamily="18" charset="0"/>
              </a:rPr>
              <a:t> – </a:t>
            </a:r>
            <a:r>
              <a:rPr lang="en-US" sz="2000" dirty="0">
                <a:solidFill>
                  <a:schemeClr val="tx1">
                    <a:lumMod val="95000"/>
                    <a:lumOff val="5000"/>
                  </a:schemeClr>
                </a:solidFill>
                <a:latin typeface="Garamond" pitchFamily="18" charset="0"/>
              </a:rPr>
              <a:t>Heart disease prediction using supervised machine learning algorithms: Performance analysis and comparison</a:t>
            </a:r>
            <a:endParaRPr lang="en-US" dirty="0">
              <a:solidFill>
                <a:schemeClr val="dk1"/>
              </a:solidFill>
              <a:latin typeface="Garamond" panose="02020404030301010803" pitchFamily="18" charset="0"/>
            </a:endParaRPr>
          </a:p>
          <a:p>
            <a:pPr algn="just"/>
            <a:r>
              <a:rPr kumimoji="0" lang="en-US" sz="2000" b="1" i="0" kern="1200" dirty="0">
                <a:solidFill>
                  <a:schemeClr val="dk1"/>
                </a:solidFill>
                <a:effectLst/>
                <a:latin typeface="Garamond" panose="02020404030301010803" pitchFamily="18" charset="0"/>
                <a:ea typeface="+mn-ea"/>
                <a:cs typeface="+mn-cs"/>
              </a:rPr>
              <a:t>AUTHOR </a:t>
            </a:r>
            <a:r>
              <a:rPr kumimoji="0" lang="en-US" sz="2000" i="0" kern="1200" dirty="0">
                <a:solidFill>
                  <a:schemeClr val="dk1"/>
                </a:solidFill>
                <a:effectLst/>
                <a:latin typeface="Garamond" panose="02020404030301010803" pitchFamily="18" charset="0"/>
                <a:ea typeface="+mn-ea"/>
                <a:cs typeface="+mn-cs"/>
              </a:rPr>
              <a:t>- </a:t>
            </a:r>
            <a:r>
              <a:rPr lang="en-US" sz="2000" dirty="0">
                <a:solidFill>
                  <a:schemeClr val="tx1">
                    <a:lumMod val="95000"/>
                    <a:lumOff val="5000"/>
                  </a:schemeClr>
                </a:solidFill>
                <a:latin typeface="Garamond" pitchFamily="18" charset="0"/>
              </a:rPr>
              <a:t>M. M. Ali, B. K. Paul, K. Ahmed, F. M. Bui, J. M. W. Quinn, and M. </a:t>
            </a:r>
            <a:r>
              <a:rPr lang="en-US" sz="2000" dirty="0" err="1">
                <a:solidFill>
                  <a:schemeClr val="tx1">
                    <a:lumMod val="95000"/>
                    <a:lumOff val="5000"/>
                  </a:schemeClr>
                </a:solidFill>
                <a:latin typeface="Garamond" pitchFamily="18" charset="0"/>
              </a:rPr>
              <a:t>A.Moni</a:t>
            </a:r>
            <a:endParaRPr lang="en-US" sz="2000" dirty="0">
              <a:solidFill>
                <a:schemeClr val="tx1">
                  <a:lumMod val="95000"/>
                  <a:lumOff val="5000"/>
                </a:schemeClr>
              </a:solidFill>
              <a:latin typeface="Garamond" pitchFamily="18" charset="0"/>
            </a:endParaRPr>
          </a:p>
          <a:p>
            <a:r>
              <a:rPr kumimoji="0" lang="en-US" sz="2000" b="1" i="0" kern="1200" dirty="0">
                <a:solidFill>
                  <a:schemeClr val="dk1"/>
                </a:solidFill>
                <a:effectLst/>
                <a:latin typeface="Garamond" panose="02020404030301010803" pitchFamily="18" charset="0"/>
                <a:ea typeface="+mn-ea"/>
                <a:cs typeface="+mn-cs"/>
              </a:rPr>
              <a:t>YEAR </a:t>
            </a:r>
            <a:r>
              <a:rPr kumimoji="0" lang="en-US" sz="2000" i="0" kern="1200" dirty="0">
                <a:solidFill>
                  <a:schemeClr val="dk1"/>
                </a:solidFill>
                <a:effectLst/>
                <a:latin typeface="Garamond" panose="02020404030301010803" pitchFamily="18" charset="0"/>
                <a:ea typeface="+mn-ea"/>
                <a:cs typeface="+mn-cs"/>
              </a:rPr>
              <a:t>– 2021</a:t>
            </a:r>
            <a:endParaRPr lang="en-US" dirty="0">
              <a:solidFill>
                <a:schemeClr val="dk1"/>
              </a:solidFill>
              <a:latin typeface="Garamond" panose="02020404030301010803" pitchFamily="18" charset="0"/>
            </a:endParaRPr>
          </a:p>
          <a:p>
            <a:r>
              <a:rPr kumimoji="0" lang="en-US" sz="2000" b="1" i="0" kern="1200" dirty="0">
                <a:solidFill>
                  <a:schemeClr val="dk1"/>
                </a:solidFill>
                <a:effectLst/>
                <a:latin typeface="Garamond" panose="02020404030301010803" pitchFamily="18" charset="0"/>
                <a:ea typeface="+mn-ea"/>
                <a:cs typeface="+mn-cs"/>
              </a:rPr>
              <a:t>METHODOLOGY </a:t>
            </a:r>
            <a:r>
              <a:rPr kumimoji="0" lang="en-US" sz="2000" i="0" kern="1200" dirty="0">
                <a:solidFill>
                  <a:schemeClr val="dk1"/>
                </a:solidFill>
                <a:effectLst/>
                <a:latin typeface="Garamond" panose="02020404030301010803" pitchFamily="18" charset="0"/>
                <a:ea typeface="+mn-ea"/>
                <a:cs typeface="+mn-cs"/>
              </a:rPr>
              <a:t>- </a:t>
            </a:r>
            <a:r>
              <a:rPr lang="en-US" sz="2000" dirty="0">
                <a:solidFill>
                  <a:srgbClr val="000000"/>
                </a:solidFill>
                <a:latin typeface="Garamond" panose="02020404030301010803" pitchFamily="18" charset="0"/>
              </a:rPr>
              <a:t>The system employs the RF algorithm, achieving 100% accuracy on a Kaggle dataset. The simplicity of this approach underscores its potential utility in early-stage heart disease prediction.</a:t>
            </a:r>
            <a:endParaRPr lang="en-IN" sz="2000" dirty="0">
              <a:solidFill>
                <a:srgbClr val="000000"/>
              </a:solidFill>
              <a:latin typeface="Garamond" panose="02020404030301010803" pitchFamily="18" charset="0"/>
            </a:endParaRPr>
          </a:p>
          <a:p>
            <a:endParaRPr kumimoji="0" lang="en-US" sz="2000" b="1" i="0" kern="1200" dirty="0">
              <a:solidFill>
                <a:schemeClr val="dk1"/>
              </a:solidFill>
              <a:effectLst/>
              <a:latin typeface="Garamond" panose="02020404030301010803" pitchFamily="18" charset="0"/>
              <a:ea typeface="+mn-ea"/>
              <a:cs typeface="+mn-cs"/>
            </a:endParaRPr>
          </a:p>
          <a:p>
            <a:endParaRPr lang="en-US" dirty="0"/>
          </a:p>
        </p:txBody>
      </p:sp>
    </p:spTree>
    <p:extLst>
      <p:ext uri="{BB962C8B-B14F-4D97-AF65-F5344CB8AC3E}">
        <p14:creationId xmlns:p14="http://schemas.microsoft.com/office/powerpoint/2010/main" val="36308036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072CD-CF32-72C8-B499-1A5BA01049C7}"/>
              </a:ext>
            </a:extLst>
          </p:cNvPr>
          <p:cNvSpPr>
            <a:spLocks noGrp="1"/>
          </p:cNvSpPr>
          <p:nvPr>
            <p:ph type="title"/>
          </p:nvPr>
        </p:nvSpPr>
        <p:spPr/>
        <p:txBody>
          <a:bodyPr/>
          <a:lstStyle/>
          <a:p>
            <a:r>
              <a:rPr lang="en-US"/>
              <a:t>Heart disease dataset</a:t>
            </a:r>
            <a:endParaRPr lang="en-US" dirty="0"/>
          </a:p>
        </p:txBody>
      </p:sp>
      <p:pic>
        <p:nvPicPr>
          <p:cNvPr id="4" name="Content Placeholder 4">
            <a:extLst>
              <a:ext uri="{FF2B5EF4-FFF2-40B4-BE49-F238E27FC236}">
                <a16:creationId xmlns:a16="http://schemas.microsoft.com/office/drawing/2014/main" id="{31942F89-F5D3-9D50-79F6-B3743A9C1BE2}"/>
              </a:ext>
            </a:extLst>
          </p:cNvPr>
          <p:cNvPicPr>
            <a:picLocks noGrp="1" noChangeAspect="1"/>
          </p:cNvPicPr>
          <p:nvPr>
            <p:ph idx="1"/>
          </p:nvPr>
        </p:nvPicPr>
        <p:blipFill>
          <a:blip r:embed="rId2"/>
          <a:stretch>
            <a:fillRect/>
          </a:stretch>
        </p:blipFill>
        <p:spPr>
          <a:xfrm>
            <a:off x="1450975" y="2125362"/>
            <a:ext cx="10012149" cy="2570205"/>
          </a:xfrm>
        </p:spPr>
      </p:pic>
    </p:spTree>
    <p:extLst>
      <p:ext uri="{BB962C8B-B14F-4D97-AF65-F5344CB8AC3E}">
        <p14:creationId xmlns:p14="http://schemas.microsoft.com/office/powerpoint/2010/main" val="8550143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E13CAD-6864-D264-EE4E-0B299E294C31}"/>
              </a:ext>
            </a:extLst>
          </p:cNvPr>
          <p:cNvSpPr>
            <a:spLocks noGrp="1"/>
          </p:cNvSpPr>
          <p:nvPr>
            <p:ph type="title"/>
          </p:nvPr>
        </p:nvSpPr>
        <p:spPr/>
        <p:txBody>
          <a:bodyPr/>
          <a:lstStyle/>
          <a:p>
            <a:r>
              <a:rPr lang="en-US" dirty="0"/>
              <a:t>Methodology</a:t>
            </a:r>
          </a:p>
        </p:txBody>
      </p:sp>
      <p:sp>
        <p:nvSpPr>
          <p:cNvPr id="4" name="Content Placeholder 3">
            <a:extLst>
              <a:ext uri="{FF2B5EF4-FFF2-40B4-BE49-F238E27FC236}">
                <a16:creationId xmlns:a16="http://schemas.microsoft.com/office/drawing/2014/main" id="{BC60E9FC-FC70-69CF-F959-0707BADEDA4F}"/>
              </a:ext>
            </a:extLst>
          </p:cNvPr>
          <p:cNvSpPr>
            <a:spLocks noGrp="1"/>
          </p:cNvSpPr>
          <p:nvPr>
            <p:ph sz="half" idx="2"/>
          </p:nvPr>
        </p:nvSpPr>
        <p:spPr/>
        <p:txBody>
          <a:bodyPr>
            <a:normAutofit fontScale="85000" lnSpcReduction="10000"/>
          </a:bodyPr>
          <a:lstStyle/>
          <a:p>
            <a:r>
              <a:rPr lang="en-US" dirty="0"/>
              <a:t>Importing the packages.</a:t>
            </a:r>
          </a:p>
          <a:p>
            <a:r>
              <a:rPr lang="en-US" dirty="0"/>
              <a:t>Exploring the dataset.</a:t>
            </a:r>
          </a:p>
          <a:p>
            <a:r>
              <a:rPr lang="en-US" dirty="0"/>
              <a:t>Data Preprocessing</a:t>
            </a:r>
          </a:p>
          <a:p>
            <a:r>
              <a:rPr lang="en-US" dirty="0"/>
              <a:t>Visualization using seaborn and matplotlib</a:t>
            </a:r>
          </a:p>
          <a:p>
            <a:r>
              <a:rPr lang="en-US" dirty="0"/>
              <a:t>Feature Selection – Honey Badger Optimization</a:t>
            </a:r>
          </a:p>
          <a:p>
            <a:r>
              <a:rPr lang="en-US" dirty="0"/>
              <a:t>Splitting the data for training and testing</a:t>
            </a:r>
          </a:p>
          <a:p>
            <a:r>
              <a:rPr lang="en-US" dirty="0"/>
              <a:t>Building the model</a:t>
            </a:r>
          </a:p>
          <a:p>
            <a:r>
              <a:rPr lang="en-US" dirty="0"/>
              <a:t>Evaluating the model</a:t>
            </a:r>
          </a:p>
          <a:p>
            <a:endParaRPr lang="en-US" dirty="0"/>
          </a:p>
          <a:p>
            <a:endParaRPr lang="en-US" dirty="0"/>
          </a:p>
          <a:p>
            <a:endParaRPr lang="en-US" dirty="0"/>
          </a:p>
        </p:txBody>
      </p:sp>
      <p:pic>
        <p:nvPicPr>
          <p:cNvPr id="5" name="Content Placeholder 4" descr="A diagram of data processing&#10;&#10;Description automatically generated">
            <a:extLst>
              <a:ext uri="{FF2B5EF4-FFF2-40B4-BE49-F238E27FC236}">
                <a16:creationId xmlns:a16="http://schemas.microsoft.com/office/drawing/2014/main" id="{5C61C94A-7F16-D281-F7A2-6E39609FA69B}"/>
              </a:ext>
            </a:extLst>
          </p:cNvPr>
          <p:cNvPicPr>
            <a:picLocks noGrp="1" noChangeAspect="1"/>
          </p:cNvPicPr>
          <p:nvPr>
            <p:ph sz="half" idx="1"/>
          </p:nvPr>
        </p:nvPicPr>
        <p:blipFill>
          <a:blip r:embed="rId2"/>
          <a:stretch>
            <a:fillRect/>
          </a:stretch>
        </p:blipFill>
        <p:spPr>
          <a:xfrm>
            <a:off x="1447800" y="2207623"/>
            <a:ext cx="4645025" cy="2621045"/>
          </a:xfrm>
          <a:prstGeom prst="rect">
            <a:avLst/>
          </a:prstGeom>
        </p:spPr>
      </p:pic>
    </p:spTree>
    <p:extLst>
      <p:ext uri="{BB962C8B-B14F-4D97-AF65-F5344CB8AC3E}">
        <p14:creationId xmlns:p14="http://schemas.microsoft.com/office/powerpoint/2010/main" val="9746727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6C52C-F6DC-5708-FA30-6E875E59C273}"/>
              </a:ext>
            </a:extLst>
          </p:cNvPr>
          <p:cNvSpPr>
            <a:spLocks noGrp="1"/>
          </p:cNvSpPr>
          <p:nvPr>
            <p:ph type="title"/>
          </p:nvPr>
        </p:nvSpPr>
        <p:spPr/>
        <p:txBody>
          <a:bodyPr/>
          <a:lstStyle/>
          <a:p>
            <a:r>
              <a:rPr lang="en-US" dirty="0"/>
              <a:t>methodology</a:t>
            </a:r>
          </a:p>
        </p:txBody>
      </p:sp>
      <p:sp>
        <p:nvSpPr>
          <p:cNvPr id="3" name="Content Placeholder 2">
            <a:extLst>
              <a:ext uri="{FF2B5EF4-FFF2-40B4-BE49-F238E27FC236}">
                <a16:creationId xmlns:a16="http://schemas.microsoft.com/office/drawing/2014/main" id="{1697BC49-38E2-101B-4F0B-0A77FC4288C6}"/>
              </a:ext>
            </a:extLst>
          </p:cNvPr>
          <p:cNvSpPr>
            <a:spLocks noGrp="1"/>
          </p:cNvSpPr>
          <p:nvPr>
            <p:ph idx="1"/>
          </p:nvPr>
        </p:nvSpPr>
        <p:spPr/>
        <p:txBody>
          <a:bodyPr>
            <a:noAutofit/>
          </a:bodyPr>
          <a:lstStyle/>
          <a:p>
            <a:r>
              <a:rPr lang="en-US" sz="2800" dirty="0">
                <a:latin typeface="Garamond" panose="02020404030301010803" pitchFamily="18" charset="0"/>
              </a:rPr>
              <a:t>This project addresses limitations by introducing a Stacking Classifier for improved accuracy, utilizing Honey Badger Optimization for feature selection, and optimizing model performance with deep learning and Bayesian optimization. The user-friendly Flask front end with authentication enhances the overall system's practicality and usability.</a:t>
            </a:r>
            <a:endParaRPr lang="en-IN" sz="2800" dirty="0">
              <a:latin typeface="Garamond" panose="02020404030301010803" pitchFamily="18" charset="0"/>
            </a:endParaRPr>
          </a:p>
        </p:txBody>
      </p:sp>
    </p:spTree>
    <p:extLst>
      <p:ext uri="{BB962C8B-B14F-4D97-AF65-F5344CB8AC3E}">
        <p14:creationId xmlns:p14="http://schemas.microsoft.com/office/powerpoint/2010/main" val="10961762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6C52C-F6DC-5708-FA30-6E875E59C273}"/>
              </a:ext>
            </a:extLst>
          </p:cNvPr>
          <p:cNvSpPr>
            <a:spLocks noGrp="1"/>
          </p:cNvSpPr>
          <p:nvPr>
            <p:ph type="title"/>
          </p:nvPr>
        </p:nvSpPr>
        <p:spPr/>
        <p:txBody>
          <a:bodyPr/>
          <a:lstStyle/>
          <a:p>
            <a:r>
              <a:rPr lang="en-US" dirty="0" err="1"/>
              <a:t>ALgorithms</a:t>
            </a:r>
            <a:endParaRPr lang="en-US" dirty="0"/>
          </a:p>
        </p:txBody>
      </p:sp>
      <p:sp>
        <p:nvSpPr>
          <p:cNvPr id="3" name="Content Placeholder 2">
            <a:extLst>
              <a:ext uri="{FF2B5EF4-FFF2-40B4-BE49-F238E27FC236}">
                <a16:creationId xmlns:a16="http://schemas.microsoft.com/office/drawing/2014/main" id="{1697BC49-38E2-101B-4F0B-0A77FC4288C6}"/>
              </a:ext>
            </a:extLst>
          </p:cNvPr>
          <p:cNvSpPr>
            <a:spLocks noGrp="1"/>
          </p:cNvSpPr>
          <p:nvPr>
            <p:ph idx="1"/>
          </p:nvPr>
        </p:nvSpPr>
        <p:spPr>
          <a:xfrm>
            <a:off x="1451578" y="1929671"/>
            <a:ext cx="9603275" cy="3450613"/>
          </a:xfrm>
        </p:spPr>
        <p:txBody>
          <a:bodyPr>
            <a:noAutofit/>
          </a:bodyPr>
          <a:lstStyle/>
          <a:p>
            <a:pPr marL="742950" indent="-742950">
              <a:buFont typeface="+mj-lt"/>
              <a:buAutoNum type="arabicPeriod"/>
            </a:pPr>
            <a:r>
              <a:rPr lang="en-US" dirty="0"/>
              <a:t>Rep Tree Algorithm</a:t>
            </a:r>
          </a:p>
          <a:p>
            <a:pPr marL="742950" indent="-742950">
              <a:buFont typeface="+mj-lt"/>
              <a:buAutoNum type="arabicPeriod"/>
            </a:pPr>
            <a:r>
              <a:rPr lang="en-US" dirty="0"/>
              <a:t>Support Vector Machine </a:t>
            </a:r>
          </a:p>
          <a:p>
            <a:pPr marL="742950" indent="-742950">
              <a:buAutoNum type="arabicPeriod"/>
            </a:pPr>
            <a:r>
              <a:rPr lang="en-US" dirty="0"/>
              <a:t>Bagging Algorithm</a:t>
            </a:r>
          </a:p>
          <a:p>
            <a:pPr marL="742950" indent="-742950">
              <a:buAutoNum type="arabicPeriod"/>
            </a:pPr>
            <a:r>
              <a:rPr lang="en-US" dirty="0"/>
              <a:t>Artificial Neural Network    </a:t>
            </a:r>
          </a:p>
          <a:p>
            <a:pPr marL="742950" indent="-742950">
              <a:buAutoNum type="arabicPeriod"/>
            </a:pPr>
            <a:r>
              <a:rPr lang="en-US" dirty="0"/>
              <a:t>J48   </a:t>
            </a:r>
          </a:p>
          <a:p>
            <a:pPr marL="742950" indent="-742950">
              <a:buAutoNum type="arabicPeriod"/>
            </a:pPr>
            <a:r>
              <a:rPr lang="en-US" dirty="0"/>
              <a:t>Spectral Clustering Algorithm</a:t>
            </a:r>
          </a:p>
          <a:p>
            <a:pPr marL="742950" indent="-742950">
              <a:buAutoNum type="arabicPeriod"/>
            </a:pPr>
            <a:r>
              <a:rPr lang="en-US" dirty="0"/>
              <a:t>Stacking Classifier(RF+ET with </a:t>
            </a:r>
            <a:r>
              <a:rPr lang="en-US" dirty="0" err="1"/>
              <a:t>LightGBM</a:t>
            </a:r>
            <a:r>
              <a:rPr lang="en-US" dirty="0"/>
              <a:t>)</a:t>
            </a:r>
          </a:p>
        </p:txBody>
      </p:sp>
    </p:spTree>
    <p:extLst>
      <p:ext uri="{BB962C8B-B14F-4D97-AF65-F5344CB8AC3E}">
        <p14:creationId xmlns:p14="http://schemas.microsoft.com/office/powerpoint/2010/main" val="27294619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6C52C-F6DC-5708-FA30-6E875E59C273}"/>
              </a:ext>
            </a:extLst>
          </p:cNvPr>
          <p:cNvSpPr>
            <a:spLocks noGrp="1"/>
          </p:cNvSpPr>
          <p:nvPr>
            <p:ph type="title"/>
          </p:nvPr>
        </p:nvSpPr>
        <p:spPr/>
        <p:txBody>
          <a:bodyPr/>
          <a:lstStyle/>
          <a:p>
            <a:r>
              <a:rPr lang="en-US" dirty="0"/>
              <a:t>stacking classifier</a:t>
            </a:r>
          </a:p>
        </p:txBody>
      </p:sp>
      <p:sp>
        <p:nvSpPr>
          <p:cNvPr id="3" name="Content Placeholder 2">
            <a:extLst>
              <a:ext uri="{FF2B5EF4-FFF2-40B4-BE49-F238E27FC236}">
                <a16:creationId xmlns:a16="http://schemas.microsoft.com/office/drawing/2014/main" id="{1697BC49-38E2-101B-4F0B-0A77FC4288C6}"/>
              </a:ext>
            </a:extLst>
          </p:cNvPr>
          <p:cNvSpPr>
            <a:spLocks noGrp="1"/>
          </p:cNvSpPr>
          <p:nvPr>
            <p:ph idx="1"/>
          </p:nvPr>
        </p:nvSpPr>
        <p:spPr>
          <a:xfrm>
            <a:off x="1451578" y="1853754"/>
            <a:ext cx="9603275" cy="3450613"/>
          </a:xfrm>
        </p:spPr>
        <p:txBody>
          <a:bodyPr>
            <a:noAutofit/>
          </a:bodyPr>
          <a:lstStyle/>
          <a:p>
            <a:pPr marL="742950" indent="-742950">
              <a:buFont typeface="+mj-lt"/>
              <a:buAutoNum type="arabicPeriod"/>
            </a:pPr>
            <a:r>
              <a:rPr lang="en-US" dirty="0"/>
              <a:t>The stacking classifier integrates multiple base models, such as RF, ET, and </a:t>
            </a:r>
            <a:r>
              <a:rPr lang="en-US" dirty="0" err="1"/>
              <a:t>LightGBM</a:t>
            </a:r>
            <a:r>
              <a:rPr lang="en-US" dirty="0"/>
              <a:t>, into a single "super model." Each base model contributes its own unique approach to the classification task.</a:t>
            </a:r>
          </a:p>
          <a:p>
            <a:pPr marL="742950" indent="-742950">
              <a:buFont typeface="+mj-lt"/>
              <a:buAutoNum type="arabicPeriod"/>
            </a:pPr>
            <a:r>
              <a:rPr lang="en-US" dirty="0"/>
              <a:t>Each individual base model, such as RF and ET, has its own strengths and weaknesses. RF is known for its robustness to outliers and noisy data, while ET excels in capturing complex patterns in the data. </a:t>
            </a:r>
            <a:r>
              <a:rPr lang="en-US" dirty="0" err="1"/>
              <a:t>LightGBM</a:t>
            </a:r>
            <a:r>
              <a:rPr lang="en-US" dirty="0"/>
              <a:t>, on the other hand, is known for its efficiency and speed in handling large datasets.</a:t>
            </a:r>
          </a:p>
          <a:p>
            <a:pPr marL="742950" indent="-742950">
              <a:buFont typeface="+mj-lt"/>
              <a:buAutoNum type="arabicPeriod"/>
            </a:pPr>
            <a:r>
              <a:rPr lang="en-US" dirty="0"/>
              <a:t>The stacking classifier aggregates the predictions from each base model, combining them into a final prediction.</a:t>
            </a:r>
          </a:p>
          <a:p>
            <a:pPr marL="742950" indent="-742950">
              <a:buFont typeface="+mj-lt"/>
              <a:buAutoNum type="arabicPeriod"/>
            </a:pPr>
            <a:r>
              <a:rPr lang="en-US" dirty="0"/>
              <a:t>The stacking classifier has the potential to outperform any single model. </a:t>
            </a:r>
          </a:p>
        </p:txBody>
      </p:sp>
    </p:spTree>
    <p:extLst>
      <p:ext uri="{BB962C8B-B14F-4D97-AF65-F5344CB8AC3E}">
        <p14:creationId xmlns:p14="http://schemas.microsoft.com/office/powerpoint/2010/main" val="24276798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D0CE3E-3D94-1117-350C-4CD6F7B79F69}"/>
              </a:ext>
            </a:extLst>
          </p:cNvPr>
          <p:cNvSpPr>
            <a:spLocks noGrp="1"/>
          </p:cNvSpPr>
          <p:nvPr>
            <p:ph type="title"/>
          </p:nvPr>
        </p:nvSpPr>
        <p:spPr>
          <a:xfrm>
            <a:off x="1451579" y="804519"/>
            <a:ext cx="9603275" cy="1049235"/>
          </a:xfrm>
        </p:spPr>
        <p:txBody>
          <a:bodyPr>
            <a:normAutofit/>
          </a:bodyPr>
          <a:lstStyle/>
          <a:p>
            <a:r>
              <a:rPr lang="en-US" dirty="0"/>
              <a:t>Performance evaluation</a:t>
            </a:r>
          </a:p>
        </p:txBody>
      </p:sp>
      <p:pic>
        <p:nvPicPr>
          <p:cNvPr id="7" name="Content Placeholder 6" descr="A graph of performance indicators&#10;&#10;Description automatically generated with medium confidence">
            <a:extLst>
              <a:ext uri="{FF2B5EF4-FFF2-40B4-BE49-F238E27FC236}">
                <a16:creationId xmlns:a16="http://schemas.microsoft.com/office/drawing/2014/main" id="{8E212AA4-A52B-AA31-8C46-EC6044E19848}"/>
              </a:ext>
            </a:extLst>
          </p:cNvPr>
          <p:cNvPicPr>
            <a:picLocks noChangeAspect="1"/>
          </p:cNvPicPr>
          <p:nvPr/>
        </p:nvPicPr>
        <p:blipFill>
          <a:blip r:embed="rId2"/>
          <a:stretch>
            <a:fillRect/>
          </a:stretch>
        </p:blipFill>
        <p:spPr>
          <a:xfrm>
            <a:off x="1451579" y="2178501"/>
            <a:ext cx="4579495" cy="3125078"/>
          </a:xfrm>
          <a:prstGeom prst="rect">
            <a:avLst/>
          </a:prstGeom>
        </p:spPr>
      </p:pic>
      <p:pic>
        <p:nvPicPr>
          <p:cNvPr id="9" name="Content Placeholder 8" descr="A graph of a number of numbers&#10;&#10;Description automatically generated with medium confidence">
            <a:extLst>
              <a:ext uri="{FF2B5EF4-FFF2-40B4-BE49-F238E27FC236}">
                <a16:creationId xmlns:a16="http://schemas.microsoft.com/office/drawing/2014/main" id="{0F15EB8B-8129-B823-C44A-96792CA58C29}"/>
              </a:ext>
            </a:extLst>
          </p:cNvPr>
          <p:cNvPicPr>
            <a:picLocks noGrp="1" noChangeAspect="1"/>
          </p:cNvPicPr>
          <p:nvPr>
            <p:ph idx="1"/>
          </p:nvPr>
        </p:nvPicPr>
        <p:blipFill>
          <a:blip r:embed="rId3"/>
          <a:stretch>
            <a:fillRect/>
          </a:stretch>
        </p:blipFill>
        <p:spPr>
          <a:xfrm>
            <a:off x="6475857" y="2178501"/>
            <a:ext cx="4579494" cy="3125078"/>
          </a:xfrm>
        </p:spPr>
      </p:pic>
    </p:spTree>
    <p:extLst>
      <p:ext uri="{BB962C8B-B14F-4D97-AF65-F5344CB8AC3E}">
        <p14:creationId xmlns:p14="http://schemas.microsoft.com/office/powerpoint/2010/main" val="21948345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D0CE3E-3D94-1117-350C-4CD6F7B79F69}"/>
              </a:ext>
            </a:extLst>
          </p:cNvPr>
          <p:cNvSpPr>
            <a:spLocks noGrp="1"/>
          </p:cNvSpPr>
          <p:nvPr>
            <p:ph type="title"/>
          </p:nvPr>
        </p:nvSpPr>
        <p:spPr>
          <a:xfrm>
            <a:off x="1451579" y="804519"/>
            <a:ext cx="9603275" cy="1049235"/>
          </a:xfrm>
        </p:spPr>
        <p:txBody>
          <a:bodyPr>
            <a:normAutofit/>
          </a:bodyPr>
          <a:lstStyle/>
          <a:p>
            <a:r>
              <a:rPr lang="en-US" dirty="0"/>
              <a:t>Performance evaluation</a:t>
            </a:r>
          </a:p>
        </p:txBody>
      </p:sp>
      <p:pic>
        <p:nvPicPr>
          <p:cNvPr id="7" name="Content Placeholder 6" descr="A bar graph with yellow bars&#10;&#10;Description automatically generated with medium confidence">
            <a:extLst>
              <a:ext uri="{FF2B5EF4-FFF2-40B4-BE49-F238E27FC236}">
                <a16:creationId xmlns:a16="http://schemas.microsoft.com/office/drawing/2014/main" id="{81A4E64E-C3B7-EAEA-5ACD-43D21A773B2B}"/>
              </a:ext>
            </a:extLst>
          </p:cNvPr>
          <p:cNvPicPr>
            <a:picLocks noChangeAspect="1"/>
          </p:cNvPicPr>
          <p:nvPr/>
        </p:nvPicPr>
        <p:blipFill>
          <a:blip r:embed="rId2"/>
          <a:stretch>
            <a:fillRect/>
          </a:stretch>
        </p:blipFill>
        <p:spPr>
          <a:xfrm>
            <a:off x="1451579" y="2252908"/>
            <a:ext cx="4960443" cy="2976264"/>
          </a:xfrm>
          <a:prstGeom prst="rect">
            <a:avLst/>
          </a:prstGeom>
        </p:spPr>
      </p:pic>
      <p:pic>
        <p:nvPicPr>
          <p:cNvPr id="9" name="Content Placeholder 8" descr="A graph with numbers and text&#10;&#10;Description automatically generated with medium confidence">
            <a:extLst>
              <a:ext uri="{FF2B5EF4-FFF2-40B4-BE49-F238E27FC236}">
                <a16:creationId xmlns:a16="http://schemas.microsoft.com/office/drawing/2014/main" id="{B9E0835D-3986-4889-E9B9-33E3F33CF6DC}"/>
              </a:ext>
            </a:extLst>
          </p:cNvPr>
          <p:cNvPicPr>
            <a:picLocks noGrp="1" noChangeAspect="1"/>
          </p:cNvPicPr>
          <p:nvPr>
            <p:ph idx="1"/>
          </p:nvPr>
        </p:nvPicPr>
        <p:blipFill>
          <a:blip r:embed="rId3"/>
          <a:stretch>
            <a:fillRect/>
          </a:stretch>
        </p:blipFill>
        <p:spPr>
          <a:xfrm>
            <a:off x="6714309" y="2252908"/>
            <a:ext cx="4669160" cy="2976264"/>
          </a:xfrm>
        </p:spPr>
      </p:pic>
    </p:spTree>
    <p:extLst>
      <p:ext uri="{BB962C8B-B14F-4D97-AF65-F5344CB8AC3E}">
        <p14:creationId xmlns:p14="http://schemas.microsoft.com/office/powerpoint/2010/main" val="26315963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D0CE3E-3D94-1117-350C-4CD6F7B79F69}"/>
              </a:ext>
            </a:extLst>
          </p:cNvPr>
          <p:cNvSpPr>
            <a:spLocks noGrp="1"/>
          </p:cNvSpPr>
          <p:nvPr>
            <p:ph type="title"/>
          </p:nvPr>
        </p:nvSpPr>
        <p:spPr/>
        <p:txBody>
          <a:bodyPr/>
          <a:lstStyle/>
          <a:p>
            <a:r>
              <a:rPr lang="en-US" dirty="0"/>
              <a:t>Performance evaluation</a:t>
            </a:r>
          </a:p>
        </p:txBody>
      </p:sp>
      <p:pic>
        <p:nvPicPr>
          <p:cNvPr id="5" name="Content Placeholder 4" descr="A table with numbers and a few black text&#10;&#10;Description automatically generated with medium confidence">
            <a:extLst>
              <a:ext uri="{FF2B5EF4-FFF2-40B4-BE49-F238E27FC236}">
                <a16:creationId xmlns:a16="http://schemas.microsoft.com/office/drawing/2014/main" id="{5332BFF3-6492-14F8-7321-3C199EB16D33}"/>
              </a:ext>
            </a:extLst>
          </p:cNvPr>
          <p:cNvPicPr>
            <a:picLocks noGrp="1" noChangeAspect="1"/>
          </p:cNvPicPr>
          <p:nvPr>
            <p:ph idx="1"/>
          </p:nvPr>
        </p:nvPicPr>
        <p:blipFill>
          <a:blip r:embed="rId2"/>
          <a:stretch>
            <a:fillRect/>
          </a:stretch>
        </p:blipFill>
        <p:spPr>
          <a:xfrm>
            <a:off x="2435204" y="2016125"/>
            <a:ext cx="7635917" cy="3449638"/>
          </a:xfrm>
        </p:spPr>
      </p:pic>
    </p:spTree>
    <p:extLst>
      <p:ext uri="{BB962C8B-B14F-4D97-AF65-F5344CB8AC3E}">
        <p14:creationId xmlns:p14="http://schemas.microsoft.com/office/powerpoint/2010/main" val="6823177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069761-B3FB-5651-A97A-94455B336F0C}"/>
              </a:ext>
            </a:extLst>
          </p:cNvPr>
          <p:cNvSpPr>
            <a:spLocks noGrp="1"/>
          </p:cNvSpPr>
          <p:nvPr>
            <p:ph type="title"/>
          </p:nvPr>
        </p:nvSpPr>
        <p:spPr/>
        <p:txBody>
          <a:bodyPr/>
          <a:lstStyle/>
          <a:p>
            <a:r>
              <a:rPr lang="en-US" dirty="0"/>
              <a:t>Web interface using flask</a:t>
            </a:r>
          </a:p>
        </p:txBody>
      </p:sp>
      <p:sp>
        <p:nvSpPr>
          <p:cNvPr id="3" name="Content Placeholder 2">
            <a:extLst>
              <a:ext uri="{FF2B5EF4-FFF2-40B4-BE49-F238E27FC236}">
                <a16:creationId xmlns:a16="http://schemas.microsoft.com/office/drawing/2014/main" id="{B6867329-FAE8-EF3D-AF6F-DFCC9CED3395}"/>
              </a:ext>
            </a:extLst>
          </p:cNvPr>
          <p:cNvSpPr>
            <a:spLocks noGrp="1"/>
          </p:cNvSpPr>
          <p:nvPr>
            <p:ph idx="1"/>
          </p:nvPr>
        </p:nvSpPr>
        <p:spPr/>
        <p:txBody>
          <a:bodyPr/>
          <a:lstStyle/>
          <a:p>
            <a:r>
              <a:rPr lang="en-US" dirty="0"/>
              <a:t>1. Microframework : It focuses on simplicity and extensibility. Flask does not come with built-in features for database management, authentication, or form validation.</a:t>
            </a:r>
          </a:p>
          <a:p>
            <a:r>
              <a:rPr lang="en-US" dirty="0"/>
              <a:t>2. Pythonic : Flask is written in Python and follows the principles of the Python programming language, such as readability and simplicity.</a:t>
            </a:r>
          </a:p>
          <a:p>
            <a:r>
              <a:rPr lang="en-US" dirty="0"/>
              <a:t>3. Extensibility: Flask provides a simple yet powerful extension mechanism that allows developers to add additional functionality to their applications from database integration to authentication and authorization.</a:t>
            </a:r>
          </a:p>
          <a:p>
            <a:endParaRPr lang="en-US" dirty="0"/>
          </a:p>
        </p:txBody>
      </p:sp>
    </p:spTree>
    <p:extLst>
      <p:ext uri="{BB962C8B-B14F-4D97-AF65-F5344CB8AC3E}">
        <p14:creationId xmlns:p14="http://schemas.microsoft.com/office/powerpoint/2010/main" val="2912213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75FC78-63BB-0803-7C25-C5B651A6DD1A}"/>
              </a:ext>
            </a:extLst>
          </p:cNvPr>
          <p:cNvSpPr>
            <a:spLocks noGrp="1"/>
          </p:cNvSpPr>
          <p:nvPr>
            <p:ph type="title"/>
          </p:nvPr>
        </p:nvSpPr>
        <p:spPr/>
        <p:txBody>
          <a:bodyPr/>
          <a:lstStyle/>
          <a:p>
            <a:r>
              <a:rPr lang="en-US" dirty="0"/>
              <a:t>Dashboard</a:t>
            </a:r>
          </a:p>
        </p:txBody>
      </p:sp>
      <p:pic>
        <p:nvPicPr>
          <p:cNvPr id="4" name="Content Placeholder 3">
            <a:extLst>
              <a:ext uri="{FF2B5EF4-FFF2-40B4-BE49-F238E27FC236}">
                <a16:creationId xmlns:a16="http://schemas.microsoft.com/office/drawing/2014/main" id="{688DBA29-BD41-97F1-6580-2C7577B84E1E}"/>
              </a:ext>
            </a:extLst>
          </p:cNvPr>
          <p:cNvPicPr>
            <a:picLocks noGrp="1" noChangeAspect="1"/>
          </p:cNvPicPr>
          <p:nvPr>
            <p:ph idx="1"/>
          </p:nvPr>
        </p:nvPicPr>
        <p:blipFill rotWithShape="1">
          <a:blip r:embed="rId2"/>
          <a:srcRect t="16533"/>
          <a:stretch/>
        </p:blipFill>
        <p:spPr>
          <a:xfrm>
            <a:off x="3211635" y="2124930"/>
            <a:ext cx="6579442" cy="2879317"/>
          </a:xfrm>
          <a:prstGeom prst="rect">
            <a:avLst/>
          </a:prstGeom>
        </p:spPr>
      </p:pic>
    </p:spTree>
    <p:extLst>
      <p:ext uri="{BB962C8B-B14F-4D97-AF65-F5344CB8AC3E}">
        <p14:creationId xmlns:p14="http://schemas.microsoft.com/office/powerpoint/2010/main" val="22861931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BF1CDA-CAD6-2F5D-D8F7-49CA59F77BE4}"/>
              </a:ext>
            </a:extLst>
          </p:cNvPr>
          <p:cNvSpPr>
            <a:spLocks noGrp="1"/>
          </p:cNvSpPr>
          <p:nvPr>
            <p:ph type="title"/>
          </p:nvPr>
        </p:nvSpPr>
        <p:spPr/>
        <p:txBody>
          <a:bodyPr/>
          <a:lstStyle/>
          <a:p>
            <a:r>
              <a:rPr lang="en-US" dirty="0"/>
              <a:t>Signup and login page</a:t>
            </a:r>
          </a:p>
        </p:txBody>
      </p:sp>
      <p:pic>
        <p:nvPicPr>
          <p:cNvPr id="4" name="Content Placeholder 3">
            <a:extLst>
              <a:ext uri="{FF2B5EF4-FFF2-40B4-BE49-F238E27FC236}">
                <a16:creationId xmlns:a16="http://schemas.microsoft.com/office/drawing/2014/main" id="{AEE0E4EB-A49F-7A41-38EA-DC5A317867AE}"/>
              </a:ext>
            </a:extLst>
          </p:cNvPr>
          <p:cNvPicPr>
            <a:picLocks noGrp="1" noChangeAspect="1"/>
          </p:cNvPicPr>
          <p:nvPr>
            <p:ph idx="1"/>
          </p:nvPr>
        </p:nvPicPr>
        <p:blipFill>
          <a:blip r:embed="rId2"/>
          <a:stretch>
            <a:fillRect/>
          </a:stretch>
        </p:blipFill>
        <p:spPr>
          <a:xfrm>
            <a:off x="1614634" y="2029187"/>
            <a:ext cx="3529398" cy="3449638"/>
          </a:xfrm>
          <a:prstGeom prst="rect">
            <a:avLst/>
          </a:prstGeom>
        </p:spPr>
      </p:pic>
      <p:pic>
        <p:nvPicPr>
          <p:cNvPr id="6" name="Picture 5">
            <a:extLst>
              <a:ext uri="{FF2B5EF4-FFF2-40B4-BE49-F238E27FC236}">
                <a16:creationId xmlns:a16="http://schemas.microsoft.com/office/drawing/2014/main" id="{004CFE4D-DADB-9BCF-49A5-ED177EEBE259}"/>
              </a:ext>
            </a:extLst>
          </p:cNvPr>
          <p:cNvPicPr>
            <a:picLocks noChangeAspect="1"/>
          </p:cNvPicPr>
          <p:nvPr/>
        </p:nvPicPr>
        <p:blipFill>
          <a:blip r:embed="rId3"/>
          <a:stretch>
            <a:fillRect/>
          </a:stretch>
        </p:blipFill>
        <p:spPr>
          <a:xfrm>
            <a:off x="5656587" y="2325189"/>
            <a:ext cx="5184576" cy="2796782"/>
          </a:xfrm>
          <a:prstGeom prst="rect">
            <a:avLst/>
          </a:prstGeom>
        </p:spPr>
      </p:pic>
    </p:spTree>
    <p:extLst>
      <p:ext uri="{BB962C8B-B14F-4D97-AF65-F5344CB8AC3E}">
        <p14:creationId xmlns:p14="http://schemas.microsoft.com/office/powerpoint/2010/main" val="24046878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40F23A-A341-890D-45F1-9540FFB8E628}"/>
              </a:ext>
            </a:extLst>
          </p:cNvPr>
          <p:cNvSpPr>
            <a:spLocks noGrp="1"/>
          </p:cNvSpPr>
          <p:nvPr>
            <p:ph type="title"/>
          </p:nvPr>
        </p:nvSpPr>
        <p:spPr/>
        <p:txBody>
          <a:bodyPr/>
          <a:lstStyle/>
          <a:p>
            <a:r>
              <a:rPr lang="en-US" dirty="0"/>
              <a:t>Input from the user and prediction</a:t>
            </a:r>
          </a:p>
        </p:txBody>
      </p:sp>
      <p:pic>
        <p:nvPicPr>
          <p:cNvPr id="4" name="Content Placeholder 3">
            <a:extLst>
              <a:ext uri="{FF2B5EF4-FFF2-40B4-BE49-F238E27FC236}">
                <a16:creationId xmlns:a16="http://schemas.microsoft.com/office/drawing/2014/main" id="{E21C5D5C-233D-78FC-190E-408A4927483B}"/>
              </a:ext>
            </a:extLst>
          </p:cNvPr>
          <p:cNvPicPr>
            <a:picLocks noGrp="1" noChangeAspect="1"/>
          </p:cNvPicPr>
          <p:nvPr>
            <p:ph idx="1"/>
          </p:nvPr>
        </p:nvPicPr>
        <p:blipFill>
          <a:blip r:embed="rId2"/>
          <a:stretch>
            <a:fillRect/>
          </a:stretch>
        </p:blipFill>
        <p:spPr>
          <a:xfrm>
            <a:off x="1835604" y="2042250"/>
            <a:ext cx="3402602" cy="3969703"/>
          </a:xfrm>
          <a:prstGeom prst="rect">
            <a:avLst/>
          </a:prstGeom>
        </p:spPr>
      </p:pic>
      <p:pic>
        <p:nvPicPr>
          <p:cNvPr id="6" name="Picture 5">
            <a:extLst>
              <a:ext uri="{FF2B5EF4-FFF2-40B4-BE49-F238E27FC236}">
                <a16:creationId xmlns:a16="http://schemas.microsoft.com/office/drawing/2014/main" id="{8247B224-A441-939F-3EAC-1FF022C97CBC}"/>
              </a:ext>
            </a:extLst>
          </p:cNvPr>
          <p:cNvPicPr>
            <a:picLocks noChangeAspect="1"/>
          </p:cNvPicPr>
          <p:nvPr/>
        </p:nvPicPr>
        <p:blipFill>
          <a:blip r:embed="rId3"/>
          <a:stretch>
            <a:fillRect/>
          </a:stretch>
        </p:blipFill>
        <p:spPr>
          <a:xfrm>
            <a:off x="5484799" y="2812406"/>
            <a:ext cx="5710069" cy="1623201"/>
          </a:xfrm>
          <a:prstGeom prst="rect">
            <a:avLst/>
          </a:prstGeom>
        </p:spPr>
      </p:pic>
    </p:spTree>
    <p:extLst>
      <p:ext uri="{BB962C8B-B14F-4D97-AF65-F5344CB8AC3E}">
        <p14:creationId xmlns:p14="http://schemas.microsoft.com/office/powerpoint/2010/main" val="33968317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40F23A-A341-890D-45F1-9540FFB8E628}"/>
              </a:ext>
            </a:extLst>
          </p:cNvPr>
          <p:cNvSpPr>
            <a:spLocks noGrp="1"/>
          </p:cNvSpPr>
          <p:nvPr>
            <p:ph type="title"/>
          </p:nvPr>
        </p:nvSpPr>
        <p:spPr/>
        <p:txBody>
          <a:bodyPr/>
          <a:lstStyle/>
          <a:p>
            <a:r>
              <a:rPr lang="en-US" dirty="0"/>
              <a:t>limitations</a:t>
            </a:r>
          </a:p>
        </p:txBody>
      </p:sp>
      <p:sp>
        <p:nvSpPr>
          <p:cNvPr id="5" name="Content Placeholder 4">
            <a:extLst>
              <a:ext uri="{FF2B5EF4-FFF2-40B4-BE49-F238E27FC236}">
                <a16:creationId xmlns:a16="http://schemas.microsoft.com/office/drawing/2014/main" id="{0DC44491-E4BD-86E3-5FAA-F90CC0DF908C}"/>
              </a:ext>
            </a:extLst>
          </p:cNvPr>
          <p:cNvSpPr>
            <a:spLocks noGrp="1"/>
          </p:cNvSpPr>
          <p:nvPr>
            <p:ph idx="1"/>
          </p:nvPr>
        </p:nvSpPr>
        <p:spPr>
          <a:xfrm>
            <a:off x="1451579" y="2015732"/>
            <a:ext cx="9603275" cy="4037749"/>
          </a:xfrm>
        </p:spPr>
        <p:txBody>
          <a:bodyPr>
            <a:normAutofit/>
          </a:bodyPr>
          <a:lstStyle/>
          <a:p>
            <a:pPr>
              <a:buFont typeface="Wingdings" pitchFamily="2" charset="2"/>
              <a:buChar char="§"/>
            </a:pPr>
            <a:r>
              <a:rPr lang="en-US" dirty="0"/>
              <a:t>1. Data Quality</a:t>
            </a:r>
          </a:p>
          <a:p>
            <a:pPr lvl="1">
              <a:buFont typeface="Wingdings" pitchFamily="2" charset="2"/>
              <a:buChar char="§"/>
            </a:pPr>
            <a:r>
              <a:rPr lang="en-US" dirty="0"/>
              <a:t>Biases</a:t>
            </a:r>
          </a:p>
          <a:p>
            <a:pPr lvl="1">
              <a:buFont typeface="Wingdings" pitchFamily="2" charset="2"/>
              <a:buChar char="§"/>
            </a:pPr>
            <a:r>
              <a:rPr lang="en-US" dirty="0"/>
              <a:t>Missing Values</a:t>
            </a:r>
          </a:p>
          <a:p>
            <a:pPr lvl="1">
              <a:buFont typeface="Wingdings" pitchFamily="2" charset="2"/>
              <a:buChar char="§"/>
            </a:pPr>
            <a:r>
              <a:rPr lang="en-US" dirty="0"/>
              <a:t>Inconsistencies</a:t>
            </a:r>
          </a:p>
          <a:p>
            <a:pPr>
              <a:buFont typeface="Wingdings" pitchFamily="2" charset="2"/>
              <a:buChar char="§"/>
            </a:pPr>
            <a:r>
              <a:rPr lang="en-US" dirty="0"/>
              <a:t>2. Model Interpretability</a:t>
            </a:r>
          </a:p>
          <a:p>
            <a:pPr lvl="1">
              <a:buFont typeface="Wingdings" pitchFamily="2" charset="2"/>
              <a:buChar char="§"/>
            </a:pPr>
            <a:r>
              <a:rPr lang="en-US" dirty="0"/>
              <a:t>Feature Importance</a:t>
            </a:r>
          </a:p>
          <a:p>
            <a:pPr>
              <a:buFont typeface="Wingdings" pitchFamily="2" charset="2"/>
              <a:buChar char="§"/>
            </a:pPr>
            <a:r>
              <a:rPr lang="en-US" dirty="0"/>
              <a:t>3. Security and Regulatory Considerations</a:t>
            </a:r>
          </a:p>
          <a:p>
            <a:pPr lvl="1">
              <a:buFont typeface="Wingdings" pitchFamily="2" charset="2"/>
              <a:buChar char="§"/>
            </a:pPr>
            <a:r>
              <a:rPr lang="en-US" dirty="0"/>
              <a:t>Secure Data Storage</a:t>
            </a:r>
          </a:p>
          <a:p>
            <a:pPr lvl="1">
              <a:buFont typeface="Wingdings" pitchFamily="2" charset="2"/>
              <a:buChar char="§"/>
            </a:pPr>
            <a:r>
              <a:rPr lang="en-US" dirty="0"/>
              <a:t>User Authentication</a:t>
            </a:r>
          </a:p>
          <a:p>
            <a:pPr lvl="1">
              <a:buFont typeface="Wingdings" pitchFamily="2" charset="2"/>
              <a:buChar char="§"/>
            </a:pPr>
            <a:endParaRPr lang="en-US" dirty="0"/>
          </a:p>
        </p:txBody>
      </p:sp>
    </p:spTree>
    <p:extLst>
      <p:ext uri="{BB962C8B-B14F-4D97-AF65-F5344CB8AC3E}">
        <p14:creationId xmlns:p14="http://schemas.microsoft.com/office/powerpoint/2010/main" val="5536337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901F7F-AABB-670B-3F0E-EEA5D1C03756}"/>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AF94B8A7-E8E6-7C13-1E85-D23627BB17DE}"/>
              </a:ext>
            </a:extLst>
          </p:cNvPr>
          <p:cNvSpPr>
            <a:spLocks noGrp="1"/>
          </p:cNvSpPr>
          <p:nvPr>
            <p:ph idx="1"/>
          </p:nvPr>
        </p:nvSpPr>
        <p:spPr>
          <a:xfrm>
            <a:off x="1451578" y="1853754"/>
            <a:ext cx="9603275" cy="3556729"/>
          </a:xfrm>
        </p:spPr>
        <p:txBody>
          <a:bodyPr>
            <a:noAutofit/>
          </a:bodyPr>
          <a:lstStyle/>
          <a:p>
            <a:pPr>
              <a:buFont typeface="+mj-lt"/>
              <a:buAutoNum type="arabicPeriod"/>
            </a:pPr>
            <a:r>
              <a:rPr lang="en-IN" sz="1750" b="1" dirty="0">
                <a:effectLst/>
              </a:rPr>
              <a:t>Innovative Model Design:</a:t>
            </a:r>
            <a:r>
              <a:rPr lang="en-IN" sz="1750" dirty="0">
                <a:effectLst/>
              </a:rPr>
              <a:t> The ACVD-HBOMDL model combines Honey Badger Optimization with modified deep learning, showcasing a novel approach for superior cardiovascular disease prediction.</a:t>
            </a:r>
          </a:p>
          <a:p>
            <a:pPr>
              <a:buFont typeface="+mj-lt"/>
              <a:buAutoNum type="arabicPeriod"/>
            </a:pPr>
            <a:r>
              <a:rPr lang="en-IN" sz="1750" b="1" dirty="0">
                <a:effectLst/>
              </a:rPr>
              <a:t>Efficient Feature Selection:</a:t>
            </a:r>
            <a:r>
              <a:rPr lang="en-IN" sz="1750" dirty="0">
                <a:effectLst/>
              </a:rPr>
              <a:t> Leveraging Honey Badger Optimization ensures efficient feature selection, allowing the model to focus on relevant data and potentially enhance accuracy and efficiency in CVD prediction.</a:t>
            </a:r>
          </a:p>
          <a:p>
            <a:pPr>
              <a:buFont typeface="+mj-lt"/>
              <a:buAutoNum type="arabicPeriod"/>
            </a:pPr>
            <a:r>
              <a:rPr lang="en-IN" sz="1750" b="1" dirty="0">
                <a:effectLst/>
              </a:rPr>
              <a:t>Diverse Algorithmic Strategy:</a:t>
            </a:r>
            <a:r>
              <a:rPr lang="en-IN" sz="1750" dirty="0">
                <a:effectLst/>
              </a:rPr>
              <a:t> By integrating various algorithms like </a:t>
            </a:r>
            <a:r>
              <a:rPr lang="en-IN" sz="1750" dirty="0" err="1">
                <a:effectLst/>
              </a:rPr>
              <a:t>RepTree</a:t>
            </a:r>
            <a:r>
              <a:rPr lang="en-IN" sz="1750" dirty="0">
                <a:effectLst/>
              </a:rPr>
              <a:t>, SVM, Bagging, ANN, J48, SC, and HBOM-DL, ACVD-HBOMDL enriches its predictive capabilities, creating a robust and reliable system.</a:t>
            </a:r>
          </a:p>
          <a:p>
            <a:pPr>
              <a:buFont typeface="+mj-lt"/>
              <a:buAutoNum type="arabicPeriod"/>
            </a:pPr>
            <a:r>
              <a:rPr lang="en-IN" sz="1750" b="1" dirty="0">
                <a:effectLst/>
              </a:rPr>
              <a:t>User-Centric Interface:</a:t>
            </a:r>
            <a:r>
              <a:rPr lang="en-IN" sz="1750" dirty="0">
                <a:effectLst/>
              </a:rPr>
              <a:t> With a user-friendly web interface built with Flask and SQLite, ACVD-HBOMDL prioritizes user experience, facilitating seamless interaction for clinicians and bridging the gap between advanced prediction models and practical application in real-world healthcare settings.</a:t>
            </a:r>
          </a:p>
          <a:p>
            <a:pPr marL="0" indent="0" algn="l">
              <a:buNone/>
            </a:pPr>
            <a:endParaRPr lang="en-IN" sz="1750" b="0" i="0" dirty="0">
              <a:solidFill>
                <a:srgbClr val="000000"/>
              </a:solidFill>
              <a:effectLst/>
              <a:highlight>
                <a:srgbClr val="FFFFFF"/>
              </a:highlight>
              <a:latin typeface="Söhne"/>
            </a:endParaRPr>
          </a:p>
        </p:txBody>
      </p:sp>
    </p:spTree>
    <p:extLst>
      <p:ext uri="{BB962C8B-B14F-4D97-AF65-F5344CB8AC3E}">
        <p14:creationId xmlns:p14="http://schemas.microsoft.com/office/powerpoint/2010/main" val="3836599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39181F-D79C-8176-1B5D-F97936B8D040}"/>
              </a:ext>
            </a:extLst>
          </p:cNvPr>
          <p:cNvSpPr>
            <a:spLocks noGrp="1"/>
          </p:cNvSpPr>
          <p:nvPr>
            <p:ph type="title"/>
          </p:nvPr>
        </p:nvSpPr>
        <p:spPr/>
        <p:txBody>
          <a:bodyPr/>
          <a:lstStyle/>
          <a:p>
            <a:r>
              <a:rPr lang="en-US" dirty="0"/>
              <a:t>future work</a:t>
            </a:r>
          </a:p>
        </p:txBody>
      </p:sp>
      <p:sp>
        <p:nvSpPr>
          <p:cNvPr id="3" name="Content Placeholder 2">
            <a:extLst>
              <a:ext uri="{FF2B5EF4-FFF2-40B4-BE49-F238E27FC236}">
                <a16:creationId xmlns:a16="http://schemas.microsoft.com/office/drawing/2014/main" id="{B85E6654-0874-2B5D-9AB8-B72BAD32DF04}"/>
              </a:ext>
            </a:extLst>
          </p:cNvPr>
          <p:cNvSpPr>
            <a:spLocks noGrp="1"/>
          </p:cNvSpPr>
          <p:nvPr>
            <p:ph idx="1"/>
          </p:nvPr>
        </p:nvSpPr>
        <p:spPr>
          <a:xfrm>
            <a:off x="1451579" y="2473777"/>
            <a:ext cx="9603275" cy="3450613"/>
          </a:xfrm>
        </p:spPr>
        <p:txBody>
          <a:bodyPr/>
          <a:lstStyle/>
          <a:p>
            <a:r>
              <a:rPr lang="en-US" dirty="0"/>
              <a:t>Incorporate Additional Sources</a:t>
            </a:r>
          </a:p>
          <a:p>
            <a:r>
              <a:rPr lang="en-US" dirty="0"/>
              <a:t>Explore Additional Datasets</a:t>
            </a:r>
          </a:p>
          <a:p>
            <a:r>
              <a:rPr lang="en-US" dirty="0"/>
              <a:t>Clinical Trial Validation</a:t>
            </a:r>
          </a:p>
        </p:txBody>
      </p:sp>
    </p:spTree>
    <p:extLst>
      <p:ext uri="{BB962C8B-B14F-4D97-AF65-F5344CB8AC3E}">
        <p14:creationId xmlns:p14="http://schemas.microsoft.com/office/powerpoint/2010/main" val="39162329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0B7009-22F7-8E94-6CBA-781EE257F44A}"/>
              </a:ext>
            </a:extLst>
          </p:cNvPr>
          <p:cNvSpPr>
            <a:spLocks noGrp="1"/>
          </p:cNvSpPr>
          <p:nvPr>
            <p:ph type="title"/>
          </p:nvPr>
        </p:nvSpPr>
        <p:spPr/>
        <p:txBody>
          <a:bodyPr/>
          <a:lstStyle/>
          <a:p>
            <a:r>
              <a:rPr lang="en-US" dirty="0"/>
              <a:t>Work plan</a:t>
            </a:r>
          </a:p>
        </p:txBody>
      </p:sp>
      <p:graphicFrame>
        <p:nvGraphicFramePr>
          <p:cNvPr id="4" name="Content Placeholder 3">
            <a:extLst>
              <a:ext uri="{FF2B5EF4-FFF2-40B4-BE49-F238E27FC236}">
                <a16:creationId xmlns:a16="http://schemas.microsoft.com/office/drawing/2014/main" id="{61D65A03-70DA-2C4A-ADB7-EB130E09EECE}"/>
              </a:ext>
            </a:extLst>
          </p:cNvPr>
          <p:cNvGraphicFramePr>
            <a:graphicFrameLocks noGrp="1"/>
          </p:cNvGraphicFramePr>
          <p:nvPr>
            <p:ph idx="1"/>
            <p:extLst>
              <p:ext uri="{D42A27DB-BD31-4B8C-83A1-F6EECF244321}">
                <p14:modId xmlns:p14="http://schemas.microsoft.com/office/powerpoint/2010/main" val="1293231330"/>
              </p:ext>
            </p:extLst>
          </p:nvPr>
        </p:nvGraphicFramePr>
        <p:xfrm>
          <a:off x="1450482" y="1439655"/>
          <a:ext cx="9604372" cy="5364480"/>
        </p:xfrm>
        <a:graphic>
          <a:graphicData uri="http://schemas.openxmlformats.org/drawingml/2006/table">
            <a:tbl>
              <a:tblPr firstRow="1" bandRow="1">
                <a:tableStyleId>{93296810-A885-4BE3-A3E7-6D5BEEA58F35}</a:tableStyleId>
              </a:tblPr>
              <a:tblGrid>
                <a:gridCol w="2401093">
                  <a:extLst>
                    <a:ext uri="{9D8B030D-6E8A-4147-A177-3AD203B41FA5}">
                      <a16:colId xmlns:a16="http://schemas.microsoft.com/office/drawing/2014/main" val="553814679"/>
                    </a:ext>
                  </a:extLst>
                </a:gridCol>
                <a:gridCol w="2401093">
                  <a:extLst>
                    <a:ext uri="{9D8B030D-6E8A-4147-A177-3AD203B41FA5}">
                      <a16:colId xmlns:a16="http://schemas.microsoft.com/office/drawing/2014/main" val="743361053"/>
                    </a:ext>
                  </a:extLst>
                </a:gridCol>
                <a:gridCol w="2401093">
                  <a:extLst>
                    <a:ext uri="{9D8B030D-6E8A-4147-A177-3AD203B41FA5}">
                      <a16:colId xmlns:a16="http://schemas.microsoft.com/office/drawing/2014/main" val="353232585"/>
                    </a:ext>
                  </a:extLst>
                </a:gridCol>
                <a:gridCol w="2401093">
                  <a:extLst>
                    <a:ext uri="{9D8B030D-6E8A-4147-A177-3AD203B41FA5}">
                      <a16:colId xmlns:a16="http://schemas.microsoft.com/office/drawing/2014/main" val="134039346"/>
                    </a:ext>
                  </a:extLst>
                </a:gridCol>
              </a:tblGrid>
              <a:tr h="370840">
                <a:tc>
                  <a:txBody>
                    <a:bodyPr/>
                    <a:lstStyle/>
                    <a:p>
                      <a:pPr algn="ctr"/>
                      <a:r>
                        <a:rPr lang="en-US" sz="1200" dirty="0"/>
                        <a:t>TASK</a:t>
                      </a:r>
                    </a:p>
                  </a:txBody>
                  <a:tcPr anchor="ctr"/>
                </a:tc>
                <a:tc>
                  <a:txBody>
                    <a:bodyPr/>
                    <a:lstStyle/>
                    <a:p>
                      <a:pPr algn="ctr"/>
                      <a:r>
                        <a:rPr lang="en-US" sz="1200" dirty="0"/>
                        <a:t>DESCRIPTION OF WORK</a:t>
                      </a:r>
                    </a:p>
                  </a:txBody>
                  <a:tcPr/>
                </a:tc>
                <a:tc>
                  <a:txBody>
                    <a:bodyPr/>
                    <a:lstStyle/>
                    <a:p>
                      <a:pPr algn="ctr"/>
                      <a:r>
                        <a:rPr lang="en-US" sz="1200" dirty="0"/>
                        <a:t>STARTING BY</a:t>
                      </a:r>
                    </a:p>
                  </a:txBody>
                  <a:tcPr/>
                </a:tc>
                <a:tc>
                  <a:txBody>
                    <a:bodyPr/>
                    <a:lstStyle/>
                    <a:p>
                      <a:pPr algn="ctr"/>
                      <a:r>
                        <a:rPr lang="en-US" sz="1200" dirty="0"/>
                        <a:t>FINISHING BY</a:t>
                      </a:r>
                    </a:p>
                  </a:txBody>
                  <a:tcPr/>
                </a:tc>
                <a:extLst>
                  <a:ext uri="{0D108BD9-81ED-4DB2-BD59-A6C34878D82A}">
                    <a16:rowId xmlns:a16="http://schemas.microsoft.com/office/drawing/2014/main" val="998090339"/>
                  </a:ext>
                </a:extLst>
              </a:tr>
              <a:tr h="370840">
                <a:tc>
                  <a:txBody>
                    <a:bodyPr/>
                    <a:lstStyle/>
                    <a:p>
                      <a:pPr algn="ctr"/>
                      <a:r>
                        <a:rPr lang="en-US" sz="1200" dirty="0"/>
                        <a:t>Task 1</a:t>
                      </a:r>
                    </a:p>
                  </a:txBody>
                  <a:tcPr/>
                </a:tc>
                <a:tc>
                  <a:txBody>
                    <a:bodyPr/>
                    <a:lstStyle/>
                    <a:p>
                      <a:pPr algn="ctr"/>
                      <a:r>
                        <a:rPr lang="en-US" sz="1200" dirty="0"/>
                        <a:t>Project Planning</a:t>
                      </a:r>
                    </a:p>
                  </a:txBody>
                  <a:tcPr/>
                </a:tc>
                <a:tc>
                  <a:txBody>
                    <a:bodyPr/>
                    <a:lstStyle/>
                    <a:p>
                      <a:pPr algn="ctr"/>
                      <a:r>
                        <a:rPr lang="en-US" sz="1200" dirty="0"/>
                        <a:t>Jan 05, 2024</a:t>
                      </a:r>
                    </a:p>
                  </a:txBody>
                  <a:tcPr/>
                </a:tc>
                <a:tc>
                  <a:txBody>
                    <a:bodyPr/>
                    <a:lstStyle/>
                    <a:p>
                      <a:pPr algn="ctr"/>
                      <a:r>
                        <a:rPr lang="en-US" sz="1200" dirty="0"/>
                        <a:t>Jan 20, 2024</a:t>
                      </a:r>
                    </a:p>
                  </a:txBody>
                  <a:tcPr/>
                </a:tc>
                <a:extLst>
                  <a:ext uri="{0D108BD9-81ED-4DB2-BD59-A6C34878D82A}">
                    <a16:rowId xmlns:a16="http://schemas.microsoft.com/office/drawing/2014/main" val="4284847420"/>
                  </a:ext>
                </a:extLst>
              </a:tr>
              <a:tr h="370840">
                <a:tc>
                  <a:txBody>
                    <a:bodyPr/>
                    <a:lstStyle/>
                    <a:p>
                      <a:pPr algn="ctr"/>
                      <a:r>
                        <a:rPr lang="en-US" sz="1200" dirty="0"/>
                        <a:t>Task 2</a:t>
                      </a:r>
                    </a:p>
                  </a:txBody>
                  <a:tcPr/>
                </a:tc>
                <a:tc>
                  <a:txBody>
                    <a:bodyPr/>
                    <a:lstStyle/>
                    <a:p>
                      <a:pPr algn="ctr"/>
                      <a:r>
                        <a:rPr lang="en-US" sz="1200" dirty="0"/>
                        <a:t>Abstract Writing</a:t>
                      </a:r>
                    </a:p>
                  </a:txBody>
                  <a:tcPr/>
                </a:tc>
                <a:tc>
                  <a:txBody>
                    <a:bodyPr/>
                    <a:lstStyle/>
                    <a:p>
                      <a:pPr algn="ctr"/>
                      <a:r>
                        <a:rPr lang="en-US" sz="1200" dirty="0"/>
                        <a:t>Jan 21, 2024</a:t>
                      </a:r>
                    </a:p>
                  </a:txBody>
                  <a:tcPr/>
                </a:tc>
                <a:tc>
                  <a:txBody>
                    <a:bodyPr/>
                    <a:lstStyle/>
                    <a:p>
                      <a:pPr algn="ctr"/>
                      <a:r>
                        <a:rPr lang="en-US" sz="1200" dirty="0"/>
                        <a:t>Jan 25, 2024</a:t>
                      </a:r>
                    </a:p>
                  </a:txBody>
                  <a:tcPr/>
                </a:tc>
                <a:extLst>
                  <a:ext uri="{0D108BD9-81ED-4DB2-BD59-A6C34878D82A}">
                    <a16:rowId xmlns:a16="http://schemas.microsoft.com/office/drawing/2014/main" val="3629871430"/>
                  </a:ext>
                </a:extLst>
              </a:tr>
              <a:tr h="370840">
                <a:tc>
                  <a:txBody>
                    <a:bodyPr/>
                    <a:lstStyle/>
                    <a:p>
                      <a:pPr algn="ctr"/>
                      <a:r>
                        <a:rPr lang="en-US" sz="1200" b="1" dirty="0"/>
                        <a:t>Task 3</a:t>
                      </a:r>
                    </a:p>
                  </a:txBody>
                  <a:tcPr/>
                </a:tc>
                <a:tc>
                  <a:txBody>
                    <a:bodyPr/>
                    <a:lstStyle/>
                    <a:p>
                      <a:pPr algn="ctr"/>
                      <a:r>
                        <a:rPr lang="en-US" sz="1200" b="1" dirty="0"/>
                        <a:t>Abstract Review 1</a:t>
                      </a:r>
                    </a:p>
                  </a:txBody>
                  <a:tcPr/>
                </a:tc>
                <a:tc>
                  <a:txBody>
                    <a:bodyPr/>
                    <a:lstStyle/>
                    <a:p>
                      <a:pPr algn="ctr"/>
                      <a:r>
                        <a:rPr lang="en-US" sz="1200" b="1" dirty="0"/>
                        <a:t>Feb 07, 2024</a:t>
                      </a:r>
                    </a:p>
                  </a:txBody>
                  <a:tcPr/>
                </a:tc>
                <a:tc>
                  <a:txBody>
                    <a:bodyPr/>
                    <a:lstStyle/>
                    <a:p>
                      <a:pPr algn="ctr"/>
                      <a:r>
                        <a:rPr lang="en-US" sz="1200" b="1" dirty="0"/>
                        <a:t>Feb 07, 2024</a:t>
                      </a:r>
                    </a:p>
                  </a:txBody>
                  <a:tcPr/>
                </a:tc>
                <a:extLst>
                  <a:ext uri="{0D108BD9-81ED-4DB2-BD59-A6C34878D82A}">
                    <a16:rowId xmlns:a16="http://schemas.microsoft.com/office/drawing/2014/main" val="1506228701"/>
                  </a:ext>
                </a:extLst>
              </a:tr>
              <a:tr h="370840">
                <a:tc>
                  <a:txBody>
                    <a:bodyPr/>
                    <a:lstStyle/>
                    <a:p>
                      <a:pPr algn="ctr"/>
                      <a:r>
                        <a:rPr lang="en-US" sz="1200" dirty="0"/>
                        <a:t>Task 4</a:t>
                      </a:r>
                    </a:p>
                  </a:txBody>
                  <a:tcPr/>
                </a:tc>
                <a:tc>
                  <a:txBody>
                    <a:bodyPr/>
                    <a:lstStyle/>
                    <a:p>
                      <a:pPr algn="ctr"/>
                      <a:r>
                        <a:rPr lang="en-US" sz="1200" dirty="0"/>
                        <a:t>Data Preprocessing</a:t>
                      </a:r>
                    </a:p>
                  </a:txBody>
                  <a:tcPr/>
                </a:tc>
                <a:tc>
                  <a:txBody>
                    <a:bodyPr/>
                    <a:lstStyle/>
                    <a:p>
                      <a:pPr algn="ctr"/>
                      <a:r>
                        <a:rPr lang="en-US" sz="1200" dirty="0"/>
                        <a:t>Feb 08, 2024</a:t>
                      </a:r>
                    </a:p>
                  </a:txBody>
                  <a:tcPr/>
                </a:tc>
                <a:tc>
                  <a:txBody>
                    <a:bodyPr/>
                    <a:lstStyle/>
                    <a:p>
                      <a:pPr algn="ctr"/>
                      <a:r>
                        <a:rPr lang="en-US" sz="1200" dirty="0"/>
                        <a:t>Feb 15, 2024</a:t>
                      </a:r>
                    </a:p>
                  </a:txBody>
                  <a:tcPr/>
                </a:tc>
                <a:extLst>
                  <a:ext uri="{0D108BD9-81ED-4DB2-BD59-A6C34878D82A}">
                    <a16:rowId xmlns:a16="http://schemas.microsoft.com/office/drawing/2014/main" val="1747242269"/>
                  </a:ext>
                </a:extLst>
              </a:tr>
              <a:tr h="370840">
                <a:tc>
                  <a:txBody>
                    <a:bodyPr/>
                    <a:lstStyle/>
                    <a:p>
                      <a:pPr algn="ctr"/>
                      <a:r>
                        <a:rPr lang="en-US" sz="1200" dirty="0"/>
                        <a:t>Task 5</a:t>
                      </a:r>
                    </a:p>
                  </a:txBody>
                  <a:tcPr/>
                </a:tc>
                <a:tc>
                  <a:txBody>
                    <a:bodyPr/>
                    <a:lstStyle/>
                    <a:p>
                      <a:pPr algn="ctr"/>
                      <a:r>
                        <a:rPr lang="en-US" sz="1200" dirty="0"/>
                        <a:t>Visualization</a:t>
                      </a:r>
                    </a:p>
                  </a:txBody>
                  <a:tcPr/>
                </a:tc>
                <a:tc>
                  <a:txBody>
                    <a:bodyPr/>
                    <a:lstStyle/>
                    <a:p>
                      <a:pPr algn="ctr"/>
                      <a:r>
                        <a:rPr lang="en-US" sz="1200" dirty="0"/>
                        <a:t>Feb 15, 2024</a:t>
                      </a:r>
                    </a:p>
                  </a:txBody>
                  <a:tcPr/>
                </a:tc>
                <a:tc>
                  <a:txBody>
                    <a:bodyPr/>
                    <a:lstStyle/>
                    <a:p>
                      <a:pPr algn="ctr"/>
                      <a:r>
                        <a:rPr lang="en-US" sz="1200" dirty="0"/>
                        <a:t>Feb 29, 2024</a:t>
                      </a:r>
                    </a:p>
                  </a:txBody>
                  <a:tcPr/>
                </a:tc>
                <a:extLst>
                  <a:ext uri="{0D108BD9-81ED-4DB2-BD59-A6C34878D82A}">
                    <a16:rowId xmlns:a16="http://schemas.microsoft.com/office/drawing/2014/main" val="3478435325"/>
                  </a:ext>
                </a:extLst>
              </a:tr>
              <a:tr h="370840">
                <a:tc>
                  <a:txBody>
                    <a:bodyPr/>
                    <a:lstStyle/>
                    <a:p>
                      <a:pPr algn="ctr"/>
                      <a:r>
                        <a:rPr lang="en-US" sz="1200" dirty="0"/>
                        <a:t>Task 6</a:t>
                      </a:r>
                    </a:p>
                  </a:txBody>
                  <a:tcPr/>
                </a:tc>
                <a:tc>
                  <a:txBody>
                    <a:bodyPr/>
                    <a:lstStyle/>
                    <a:p>
                      <a:pPr algn="ctr"/>
                      <a:r>
                        <a:rPr lang="en-US" sz="1200" dirty="0"/>
                        <a:t>Building the model</a:t>
                      </a:r>
                    </a:p>
                  </a:txBody>
                  <a:tcPr/>
                </a:tc>
                <a:tc>
                  <a:txBody>
                    <a:bodyPr/>
                    <a:lstStyle/>
                    <a:p>
                      <a:pPr algn="ctr"/>
                      <a:r>
                        <a:rPr lang="en-US" sz="1200" dirty="0"/>
                        <a:t>Mar 01, 2024</a:t>
                      </a:r>
                    </a:p>
                  </a:txBody>
                  <a:tcPr/>
                </a:tc>
                <a:tc>
                  <a:txBody>
                    <a:bodyPr/>
                    <a:lstStyle/>
                    <a:p>
                      <a:pPr algn="ctr"/>
                      <a:r>
                        <a:rPr lang="en-US" sz="1200" dirty="0"/>
                        <a:t>Mar 10, 2024</a:t>
                      </a:r>
                    </a:p>
                  </a:txBody>
                  <a:tcPr/>
                </a:tc>
                <a:extLst>
                  <a:ext uri="{0D108BD9-81ED-4DB2-BD59-A6C34878D82A}">
                    <a16:rowId xmlns:a16="http://schemas.microsoft.com/office/drawing/2014/main" val="1227999205"/>
                  </a:ext>
                </a:extLst>
              </a:tr>
              <a:tr h="370840">
                <a:tc>
                  <a:txBody>
                    <a:bodyPr/>
                    <a:lstStyle/>
                    <a:p>
                      <a:pPr algn="ctr"/>
                      <a:r>
                        <a:rPr lang="en-US" sz="1200" b="1" dirty="0"/>
                        <a:t>Task 7</a:t>
                      </a:r>
                    </a:p>
                  </a:txBody>
                  <a:tcPr/>
                </a:tc>
                <a:tc>
                  <a:txBody>
                    <a:bodyPr/>
                    <a:lstStyle/>
                    <a:p>
                      <a:pPr algn="ctr"/>
                      <a:r>
                        <a:rPr lang="en-US" sz="1200" b="1" dirty="0"/>
                        <a:t>Review II ( Midterm Review)</a:t>
                      </a:r>
                    </a:p>
                  </a:txBody>
                  <a:tcPr/>
                </a:tc>
                <a:tc>
                  <a:txBody>
                    <a:bodyPr/>
                    <a:lstStyle/>
                    <a:p>
                      <a:pPr algn="ctr"/>
                      <a:r>
                        <a:rPr lang="en-US" sz="1200" b="1" dirty="0"/>
                        <a:t>Mar 11, 2024</a:t>
                      </a:r>
                    </a:p>
                  </a:txBody>
                  <a:tcPr/>
                </a:tc>
                <a:tc>
                  <a:txBody>
                    <a:bodyPr/>
                    <a:lstStyle/>
                    <a:p>
                      <a:pPr algn="ctr"/>
                      <a:r>
                        <a:rPr lang="en-US" sz="1200" b="1" dirty="0"/>
                        <a:t>Mar 15, 2024</a:t>
                      </a:r>
                    </a:p>
                  </a:txBody>
                  <a:tcPr/>
                </a:tc>
                <a:extLst>
                  <a:ext uri="{0D108BD9-81ED-4DB2-BD59-A6C34878D82A}">
                    <a16:rowId xmlns:a16="http://schemas.microsoft.com/office/drawing/2014/main" val="4160036553"/>
                  </a:ext>
                </a:extLst>
              </a:tr>
              <a:tr h="370840">
                <a:tc>
                  <a:txBody>
                    <a:bodyPr/>
                    <a:lstStyle/>
                    <a:p>
                      <a:pPr algn="ctr"/>
                      <a:r>
                        <a:rPr lang="en-US" sz="1200" dirty="0"/>
                        <a:t>Task 8</a:t>
                      </a:r>
                    </a:p>
                  </a:txBody>
                  <a:tcPr/>
                </a:tc>
                <a:tc>
                  <a:txBody>
                    <a:bodyPr/>
                    <a:lstStyle/>
                    <a:p>
                      <a:pPr algn="ctr"/>
                      <a:r>
                        <a:rPr lang="en-US" sz="1200" dirty="0"/>
                        <a:t>Creating a web interface</a:t>
                      </a:r>
                    </a:p>
                  </a:txBody>
                  <a:tcPr/>
                </a:tc>
                <a:tc>
                  <a:txBody>
                    <a:bodyPr/>
                    <a:lstStyle/>
                    <a:p>
                      <a:pPr algn="ctr"/>
                      <a:r>
                        <a:rPr lang="en-US" sz="1200" dirty="0"/>
                        <a:t>Mar 16, 2024</a:t>
                      </a:r>
                    </a:p>
                  </a:txBody>
                  <a:tcPr/>
                </a:tc>
                <a:tc>
                  <a:txBody>
                    <a:bodyPr/>
                    <a:lstStyle/>
                    <a:p>
                      <a:pPr algn="ctr"/>
                      <a:r>
                        <a:rPr lang="en-US" sz="1200" dirty="0"/>
                        <a:t>Mar 25, 2024</a:t>
                      </a:r>
                    </a:p>
                  </a:txBody>
                  <a:tcPr/>
                </a:tc>
                <a:extLst>
                  <a:ext uri="{0D108BD9-81ED-4DB2-BD59-A6C34878D82A}">
                    <a16:rowId xmlns:a16="http://schemas.microsoft.com/office/drawing/2014/main" val="1272705344"/>
                  </a:ext>
                </a:extLst>
              </a:tr>
              <a:tr h="370840">
                <a:tc>
                  <a:txBody>
                    <a:bodyPr/>
                    <a:lstStyle/>
                    <a:p>
                      <a:pPr algn="ctr"/>
                      <a:r>
                        <a:rPr lang="en-US" sz="1200" dirty="0"/>
                        <a:t>Task 9</a:t>
                      </a:r>
                    </a:p>
                  </a:txBody>
                  <a:tcPr/>
                </a:tc>
                <a:tc>
                  <a:txBody>
                    <a:bodyPr/>
                    <a:lstStyle/>
                    <a:p>
                      <a:pPr algn="ctr"/>
                      <a:r>
                        <a:rPr lang="en-US" sz="1200" dirty="0"/>
                        <a:t>Result and Conclusion</a:t>
                      </a:r>
                    </a:p>
                  </a:txBody>
                  <a:tcPr/>
                </a:tc>
                <a:tc>
                  <a:txBody>
                    <a:bodyPr/>
                    <a:lstStyle/>
                    <a:p>
                      <a:pPr algn="ctr"/>
                      <a:r>
                        <a:rPr lang="en-US" sz="1200" dirty="0"/>
                        <a:t>Mar 26, 2024</a:t>
                      </a:r>
                    </a:p>
                  </a:txBody>
                  <a:tcPr/>
                </a:tc>
                <a:tc>
                  <a:txBody>
                    <a:bodyPr/>
                    <a:lstStyle/>
                    <a:p>
                      <a:pPr algn="ctr"/>
                      <a:r>
                        <a:rPr lang="en-US" sz="1200" dirty="0"/>
                        <a:t>Mar 31, 2024</a:t>
                      </a:r>
                    </a:p>
                  </a:txBody>
                  <a:tcPr/>
                </a:tc>
                <a:extLst>
                  <a:ext uri="{0D108BD9-81ED-4DB2-BD59-A6C34878D82A}">
                    <a16:rowId xmlns:a16="http://schemas.microsoft.com/office/drawing/2014/main" val="3678051928"/>
                  </a:ext>
                </a:extLst>
              </a:tr>
              <a:tr h="370840">
                <a:tc>
                  <a:txBody>
                    <a:bodyPr/>
                    <a:lstStyle/>
                    <a:p>
                      <a:pPr algn="ctr"/>
                      <a:r>
                        <a:rPr lang="en-US" sz="1200" b="1" dirty="0"/>
                        <a:t>Task 10</a:t>
                      </a:r>
                    </a:p>
                  </a:txBody>
                  <a:tcPr/>
                </a:tc>
                <a:tc>
                  <a:txBody>
                    <a:bodyPr/>
                    <a:lstStyle/>
                    <a:p>
                      <a:pPr algn="ctr"/>
                      <a:r>
                        <a:rPr lang="en-US" sz="1200" b="1" dirty="0"/>
                        <a:t>Final Review (Guide)</a:t>
                      </a:r>
                    </a:p>
                  </a:txBody>
                  <a:tcPr/>
                </a:tc>
                <a:tc>
                  <a:txBody>
                    <a:bodyPr/>
                    <a:lstStyle/>
                    <a:p>
                      <a:pPr algn="ctr"/>
                      <a:r>
                        <a:rPr lang="en-US" sz="1200" b="1" dirty="0"/>
                        <a:t>April 01, 2024</a:t>
                      </a:r>
                    </a:p>
                  </a:txBody>
                  <a:tcPr/>
                </a:tc>
                <a:tc>
                  <a:txBody>
                    <a:bodyPr/>
                    <a:lstStyle/>
                    <a:p>
                      <a:pPr algn="ctr"/>
                      <a:r>
                        <a:rPr lang="en-US" sz="1200" b="1" dirty="0"/>
                        <a:t>April 06, 2024</a:t>
                      </a:r>
                    </a:p>
                  </a:txBody>
                  <a:tcPr/>
                </a:tc>
                <a:extLst>
                  <a:ext uri="{0D108BD9-81ED-4DB2-BD59-A6C34878D82A}">
                    <a16:rowId xmlns:a16="http://schemas.microsoft.com/office/drawing/2014/main" val="420078045"/>
                  </a:ext>
                </a:extLst>
              </a:tr>
              <a:tr h="370840">
                <a:tc>
                  <a:txBody>
                    <a:bodyPr/>
                    <a:lstStyle/>
                    <a:p>
                      <a:pPr algn="ctr"/>
                      <a:r>
                        <a:rPr lang="en-US" sz="1200" dirty="0"/>
                        <a:t>Task 11</a:t>
                      </a:r>
                    </a:p>
                  </a:txBody>
                  <a:tcPr/>
                </a:tc>
                <a:tc>
                  <a:txBody>
                    <a:bodyPr/>
                    <a:lstStyle/>
                    <a:p>
                      <a:pPr algn="ctr"/>
                      <a:r>
                        <a:rPr lang="en-US" sz="1200" dirty="0"/>
                        <a:t>Structuring the Final thesis and Formatting it</a:t>
                      </a:r>
                    </a:p>
                  </a:txBody>
                  <a:tcPr/>
                </a:tc>
                <a:tc>
                  <a:txBody>
                    <a:bodyPr/>
                    <a:lstStyle/>
                    <a:p>
                      <a:pPr algn="ctr"/>
                      <a:r>
                        <a:rPr lang="en-US" sz="1200" dirty="0"/>
                        <a:t>April 07, 2024</a:t>
                      </a:r>
                    </a:p>
                  </a:txBody>
                  <a:tcPr/>
                </a:tc>
                <a:tc>
                  <a:txBody>
                    <a:bodyPr/>
                    <a:lstStyle/>
                    <a:p>
                      <a:pPr algn="ctr"/>
                      <a:r>
                        <a:rPr lang="en-US" sz="1200" dirty="0"/>
                        <a:t>April 30, 2024</a:t>
                      </a:r>
                    </a:p>
                  </a:txBody>
                  <a:tcPr/>
                </a:tc>
                <a:extLst>
                  <a:ext uri="{0D108BD9-81ED-4DB2-BD59-A6C34878D82A}">
                    <a16:rowId xmlns:a16="http://schemas.microsoft.com/office/drawing/2014/main" val="4185156258"/>
                  </a:ext>
                </a:extLst>
              </a:tr>
              <a:tr h="370840">
                <a:tc>
                  <a:txBody>
                    <a:bodyPr/>
                    <a:lstStyle/>
                    <a:p>
                      <a:pPr algn="ctr"/>
                      <a:r>
                        <a:rPr lang="en-US" sz="1200" b="1" dirty="0"/>
                        <a:t>Task 12</a:t>
                      </a:r>
                    </a:p>
                  </a:txBody>
                  <a:tcPr/>
                </a:tc>
                <a:tc>
                  <a:txBody>
                    <a:bodyPr/>
                    <a:lstStyle/>
                    <a:p>
                      <a:pPr algn="ctr"/>
                      <a:r>
                        <a:rPr lang="en-US" sz="1200" b="1" dirty="0"/>
                        <a:t>Final Review (</a:t>
                      </a:r>
                      <a:r>
                        <a:rPr lang="en-US" sz="1200" b="1" dirty="0" err="1"/>
                        <a:t>HoD</a:t>
                      </a:r>
                      <a:r>
                        <a:rPr lang="en-US" sz="1200" b="1" dirty="0"/>
                        <a:t>)</a:t>
                      </a:r>
                    </a:p>
                  </a:txBody>
                  <a:tcPr/>
                </a:tc>
                <a:tc>
                  <a:txBody>
                    <a:bodyPr/>
                    <a:lstStyle/>
                    <a:p>
                      <a:pPr algn="ctr"/>
                      <a:r>
                        <a:rPr lang="en-US" sz="1200" b="1" dirty="0"/>
                        <a:t>May 08, 2024</a:t>
                      </a:r>
                    </a:p>
                  </a:txBody>
                  <a:tcPr/>
                </a:tc>
                <a:tc>
                  <a:txBody>
                    <a:bodyPr/>
                    <a:lstStyle/>
                    <a:p>
                      <a:pPr algn="ctr"/>
                      <a:r>
                        <a:rPr lang="en-US" sz="1200" b="1" dirty="0"/>
                        <a:t>May 08, 2024</a:t>
                      </a:r>
                    </a:p>
                  </a:txBody>
                  <a:tcPr/>
                </a:tc>
                <a:extLst>
                  <a:ext uri="{0D108BD9-81ED-4DB2-BD59-A6C34878D82A}">
                    <a16:rowId xmlns:a16="http://schemas.microsoft.com/office/drawing/2014/main" val="901083200"/>
                  </a:ext>
                </a:extLst>
              </a:tr>
              <a:tr h="370840">
                <a:tc>
                  <a:txBody>
                    <a:bodyPr/>
                    <a:lstStyle/>
                    <a:p>
                      <a:pPr algn="ctr"/>
                      <a:r>
                        <a:rPr lang="en-US" sz="1200" b="1" dirty="0"/>
                        <a:t>Task 13</a:t>
                      </a:r>
                    </a:p>
                  </a:txBody>
                  <a:tcPr/>
                </a:tc>
                <a:tc>
                  <a:txBody>
                    <a:bodyPr/>
                    <a:lstStyle/>
                    <a:p>
                      <a:pPr algn="ctr"/>
                      <a:r>
                        <a:rPr lang="en-US" sz="1200" b="1" dirty="0"/>
                        <a:t>Final Project Report Submission</a:t>
                      </a:r>
                    </a:p>
                  </a:txBody>
                  <a:tcPr/>
                </a:tc>
                <a:tc>
                  <a:txBody>
                    <a:bodyPr/>
                    <a:lstStyle/>
                    <a:p>
                      <a:pPr algn="ctr"/>
                      <a:r>
                        <a:rPr lang="en-US" sz="1200" b="1" dirty="0"/>
                        <a:t>May 08, 2024</a:t>
                      </a:r>
                    </a:p>
                  </a:txBody>
                  <a:tcPr/>
                </a:tc>
                <a:tc>
                  <a:txBody>
                    <a:bodyPr/>
                    <a:lstStyle/>
                    <a:p>
                      <a:pPr algn="ctr"/>
                      <a:r>
                        <a:rPr lang="en-US" sz="1200" b="1" dirty="0"/>
                        <a:t>May 08, 2024</a:t>
                      </a:r>
                    </a:p>
                  </a:txBody>
                  <a:tcPr/>
                </a:tc>
                <a:extLst>
                  <a:ext uri="{0D108BD9-81ED-4DB2-BD59-A6C34878D82A}">
                    <a16:rowId xmlns:a16="http://schemas.microsoft.com/office/drawing/2014/main" val="3077343710"/>
                  </a:ext>
                </a:extLst>
              </a:tr>
            </a:tbl>
          </a:graphicData>
        </a:graphic>
      </p:graphicFrame>
    </p:spTree>
    <p:extLst>
      <p:ext uri="{BB962C8B-B14F-4D97-AF65-F5344CB8AC3E}">
        <p14:creationId xmlns:p14="http://schemas.microsoft.com/office/powerpoint/2010/main" val="18269996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C5479B-0050-FD85-83F7-1C405398C790}"/>
              </a:ext>
            </a:extLst>
          </p:cNvPr>
          <p:cNvSpPr>
            <a:spLocks noGrp="1"/>
          </p:cNvSpPr>
          <p:nvPr>
            <p:ph type="title"/>
          </p:nvPr>
        </p:nvSpPr>
        <p:spPr>
          <a:xfrm>
            <a:off x="1463154" y="3429000"/>
            <a:ext cx="9603275" cy="1049235"/>
          </a:xfrm>
        </p:spPr>
        <p:txBody>
          <a:bodyPr/>
          <a:lstStyle/>
          <a:p>
            <a:pPr algn="ctr"/>
            <a:r>
              <a:rPr lang="en-US" dirty="0"/>
              <a:t>Thank you</a:t>
            </a:r>
          </a:p>
        </p:txBody>
      </p:sp>
    </p:spTree>
    <p:extLst>
      <p:ext uri="{BB962C8B-B14F-4D97-AF65-F5344CB8AC3E}">
        <p14:creationId xmlns:p14="http://schemas.microsoft.com/office/powerpoint/2010/main" val="3473950434"/>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13161</TotalTime>
  <Words>1629</Words>
  <Application>Microsoft Macintosh PowerPoint</Application>
  <PresentationFormat>Widescreen</PresentationFormat>
  <Paragraphs>164</Paragraphs>
  <Slides>27</Slides>
  <Notes>0</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Arial</vt:lpstr>
      <vt:lpstr>Garamond</vt:lpstr>
      <vt:lpstr>Gill Sans MT</vt:lpstr>
      <vt:lpstr>Söhne</vt:lpstr>
      <vt:lpstr>Wingdings</vt:lpstr>
      <vt:lpstr>Gallery</vt:lpstr>
      <vt:lpstr>Automated Cardiovascular Disease Diagnosis Using Honey Badger Optimization With Modified Deep Learning Model</vt:lpstr>
      <vt:lpstr>abstract</vt:lpstr>
      <vt:lpstr>introduction</vt:lpstr>
      <vt:lpstr>Problem statement</vt:lpstr>
      <vt:lpstr>objective</vt:lpstr>
      <vt:lpstr>Literature survey</vt:lpstr>
      <vt:lpstr>Literature survey</vt:lpstr>
      <vt:lpstr>Literature survey</vt:lpstr>
      <vt:lpstr>Literature survey</vt:lpstr>
      <vt:lpstr>Literature survey</vt:lpstr>
      <vt:lpstr>Heart disease dataset</vt:lpstr>
      <vt:lpstr>Methodology</vt:lpstr>
      <vt:lpstr>methodology</vt:lpstr>
      <vt:lpstr>ALgorithms</vt:lpstr>
      <vt:lpstr>stacking classifier</vt:lpstr>
      <vt:lpstr>Performance evaluation</vt:lpstr>
      <vt:lpstr>Performance evaluation</vt:lpstr>
      <vt:lpstr>Performance evaluation</vt:lpstr>
      <vt:lpstr>Web interface using flask</vt:lpstr>
      <vt:lpstr>Dashboard</vt:lpstr>
      <vt:lpstr>Signup and login page</vt:lpstr>
      <vt:lpstr>Input from the user and prediction</vt:lpstr>
      <vt:lpstr>limitations</vt:lpstr>
      <vt:lpstr>conclusion</vt:lpstr>
      <vt:lpstr>future work</vt:lpstr>
      <vt:lpstr>Work plan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Automated Cardiovascular Disease Diagnosis Using Honey Badger Optimization With Modified Deep Learning Model</dc:title>
  <dc:creator>Gilbert Raj V</dc:creator>
  <cp:lastModifiedBy>Gilbert Vijayan</cp:lastModifiedBy>
  <cp:revision>16</cp:revision>
  <cp:lastPrinted>2024-03-14T05:07:03Z</cp:lastPrinted>
  <dcterms:created xsi:type="dcterms:W3CDTF">2024-03-14T04:53:55Z</dcterms:created>
  <dcterms:modified xsi:type="dcterms:W3CDTF">2026-04-10T04:28:19Z</dcterms:modified>
</cp:coreProperties>
</file>